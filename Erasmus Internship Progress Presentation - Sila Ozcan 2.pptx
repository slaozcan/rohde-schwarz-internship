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introduce yourself. State that this presentation covers the progress made during the Erasmus internship on an AI-assisted system-test generator. Briefly preview that the talk will cover the project goal, how the generator evolved, the security-compliant model investigation, quality findings on a smaller model, the improvements implemented, and next steps. Mention that all infrastructure and requirement details shown are intentionally kept generic for confidentiality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core goal: engineers currently write system test cases manually from requirements and architecture documents, which is time-consuming. The generator automates this by producing structured test cases that are traceable back to the source documents. Emphasize 'source-grounded' — this is the central quality bar for the whole project, and it becomes important again later when discussing hallucination problems. Note that the generator must also respect existing security constraints, which is covered in a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stages left to right. Start from the baseline generator that already produced valid JSON. Then the security/infrastructure investigation, followed by evaluating a smaller model. Once quality issues were found, the middle stage of the internship focused on validation and batching improvements. The project is now in an evaluation phase, checking whether the improvements generalize. Keep this slide as a map for the rest of the talk — each later slide expands one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investigation phase was about where and how the model runs, not about the generator logic itself. The priority was staying inside approved, security-compliant environments given that requirement and architecture documents can be sensitive. Stress the two guardrails that were preserved throughout: no public model or tooling was downloaded, and the existing document allowlists and validation logic already used by the workspace were left untouched. This sets up the next slide, which clarifies a distinction that came up repeatedly during this investigation: gateway access versus true local hosting.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key clarification for stakeholders: 'using an internal gateway' and 'hosting a model locally' are often assumed to be the same thing, but they are not. A gateway can route requests to a model that is still hosted externally, just through an approved, monitored path — the data still leaves the local boundary, even if the connection is compliant. True local or on-prem hosting means the model itself runs inside the organization's own infrastructure, so no request data leaves the network. Highlight the practical point: regardless of which option is used, the generator reuses the existing OpenAI-compatible adapter — only the base URL and model name change, no adapter rewrite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evaluation methodology: to isolate the effect of model capability, everything else was held constant — same generator pipeline, same prompts, same input documents. Only the model itself was swapped for a smaller, cheaper option. This controlled comparison is what allowed the quality problems on the next slide to be attributed specifically to model capability rather than to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problem statement of the internship — presented together with its resolution. The smaller model produced output that passed JSON schema validation — it was structurally correct — but it was not semantically trustworthy. Walk through each pattern: invented sample values, fabricated UI flows, unsupported negative/error flows, and other unsupported details. For each one, note that it was closed by the improvements implemented during the internship: expanded validation scope, invented-value and placeholder detection, focused batching, and improved repair prompts — covered in detail on the next slides. Keep the framing honest: this resolution is demonstrated on the representative case; broader generalization across other requirement types is tracked separately later in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concrete improvements implemented in response to the quality problems found. First, validation coverage was expanded — previously it mostly checked the testData field, now it checks the full structure: preconditions, actions, expected results, and postconditions. Second, a detector was added specifically for invented literal values that cannot be traced to the source documents. Third, placeholder or filler content is now detected automatically. Fourth, the repair prompts used to fix flagged issues were improved so the generator can correct a specific problem without regenerating the whole test case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improvements work together. Focused batching means each generation call sees a smaller, more relevant slice of the requirement and architecture material, rather than a large mixed batch — this reduces the model's opportunity to drift or invent content. Source-grounding validation then checks the generated test case content against that specific source text and flags anything unsupported. When something is flagged, only that section is repaired, keeping the correction efficient and reducing the risk of introducing new errors elsewhere in the test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representative, deliberately generic example — no real requirement wording, product names, or confidential details are included. In the 'before' state, the generated test case referenced UI elements that were never documented, used input values that could not be traced to any source, and added an extra negative-path step that was not requested. After applying the expanded validation, invented-value detection, and focused batching, the same type of case became limited strictly to the documented flow, using only traceable values and steps. Make clear that this shows the type of improvement achieved, not the literal content that was processed.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transparent that the improvement demonstrated on the previous slide has, so far, been validated on one representative case. It has not yet been confirmed across the full variety of requirement types that the generator needs to handle. Different requirement structures may produce different hallucination patterns, so batch size and repair-prompt settings may need requirement-specific tuning. The right-hand panel shows this honestly: one case validated, several others still pending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where things currently stand. The quality improvement is validated on the representative case. Evaluation on the broader requirement set is actively in progress. Default model selection is explicitly not finalized — it requires repeated evaluation and sign-off from the relevant stakeholders before being adopted as the default. Reassure the audience that the existing workspace safeguards — document allowlists and prior validation logic — were confirmed to remain intact throughout all of this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lessons summarize the internship so far. The most important one is the first: passing schema validation says nothing about whether the content is trustworthy. Second, weaker models need tighter guardrails — more granular, content-aware validation rather than relying on structure alone. Third, narrowing the scope of each generation call measurably helps keep output grounded in the source material. Fourth, note that the infrastructure decision (gateway vs. local hosting) mostly affects configuration — the adapter and base URL — rather than requiring changes to the generator's core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technical content with a forward-looking plan. The immediate priority is generalizing the source-grounding validation to more requirement types beyond the single representative case. In parallel, continue evaluating whether the smaller model's cost savings hold up on a larger, more diverse test set. Model selection remains open until repeated evaluation and formal sign-off are complete. Finally, plan to document the final setup — reiterate that only the existing OpenAI-compatible adapter's base URL and model configuration need to change, with no new adapter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Be ready to discuss the security/compliance investigation, the concrete quality problems found, and the validation/batching improvements in more depth if asked. If pressed on infrastructure or model specifics, reiterate that those details are kept generic in this presentation for confidentiality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7F9F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image" Target="../media/image-7-1.png"/><Relationship Id="rId8" Type="http://schemas.openxmlformats.org/officeDocument/2006/relationships/image" Target="../media/image-7-2.png"/><Relationship Id="rId9" Type="http://schemas.openxmlformats.org/officeDocument/2006/relationships/image" Target="../media/image-7-1.pn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2.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2.png"/><Relationship Id="rId4" Type="http://schemas.openxmlformats.org/officeDocument/2006/relationships/image" Target="../media/image-11-2.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22960" y="777240"/>
            <a:ext cx="822960" cy="822960"/>
          </a:xfrm>
          <a:prstGeom prst="ellipse">
            <a:avLst/>
          </a:prstGeom>
          <a:solidFill>
            <a:srgbClr val="2B3A82"/>
          </a:solidFill>
          <a:ln/>
        </p:spPr>
      </p:sp>
      <p:pic>
        <p:nvPicPr>
          <p:cNvPr id="3" name="Image 0" descr="/home/claude/icons/microchip.png">    </p:cNvPr>
          <p:cNvPicPr>
            <a:picLocks noChangeAspect="1"/>
          </p:cNvPicPr>
          <p:nvPr/>
        </p:nvPicPr>
        <p:blipFill>
          <a:blip r:embed="rId1"/>
          <a:stretch>
            <a:fillRect/>
          </a:stretch>
        </p:blipFill>
        <p:spPr>
          <a:xfrm>
            <a:off x="969264" y="923544"/>
            <a:ext cx="530352" cy="530352"/>
          </a:xfrm>
          <a:prstGeom prst="rect">
            <a:avLst/>
          </a:prstGeom>
        </p:spPr>
      </p:pic>
      <p:pic>
        <p:nvPicPr>
          <p:cNvPr id="4" name="Image 1" descr="/home/claude/rs_logo_transparent.png">    </p:cNvPr>
          <p:cNvPicPr>
            <a:picLocks noChangeAspect="1"/>
          </p:cNvPicPr>
          <p:nvPr/>
        </p:nvPicPr>
        <p:blipFill>
          <a:blip r:embed="rId2"/>
          <a:stretch>
            <a:fillRect/>
          </a:stretch>
        </p:blipFill>
        <p:spPr>
          <a:xfrm>
            <a:off x="10680192" y="502920"/>
            <a:ext cx="777240" cy="777240"/>
          </a:xfrm>
          <a:prstGeom prst="rect">
            <a:avLst/>
          </a:prstGeom>
        </p:spPr>
      </p:pic>
      <p:sp>
        <p:nvSpPr>
          <p:cNvPr id="5" name="Text 1"/>
          <p:cNvSpPr txBox="1"/>
          <p:nvPr/>
        </p:nvSpPr>
        <p:spPr>
          <a:xfrm>
            <a:off x="10222992" y="1298448"/>
            <a:ext cx="1691640" cy="274320"/>
          </a:xfrm>
          <a:prstGeom prst="rect">
            <a:avLst/>
          </a:prstGeom>
          <a:noFill/>
          <a:ln/>
        </p:spPr>
        <p:txBody>
          <a:bodyPr wrap="square" lIns="0" tIns="0" rIns="0" bIns="0" rtlCol="0" anchor="ctr"/>
          <a:lstStyle/>
          <a:p>
            <a:pPr algn="ctr" indent="0" marL="0">
              <a:buNone/>
            </a:pPr>
            <a:r>
              <a:rPr lang="en-US" sz="900" b="1" spc="100" kern="0" dirty="0">
                <a:solidFill>
                  <a:srgbClr val="CADCFC"/>
                </a:solidFill>
                <a:latin typeface="Calibri" pitchFamily="34" charset="0"/>
                <a:ea typeface="Calibri" pitchFamily="34" charset="-122"/>
                <a:cs typeface="Calibri" pitchFamily="34" charset="-120"/>
              </a:rPr>
              <a:t>ROHDE &amp; SCHWARZ</a:t>
            </a:r>
            <a:endParaRPr lang="en-US" sz="900" dirty="0"/>
          </a:p>
        </p:txBody>
      </p:sp>
      <p:sp>
        <p:nvSpPr>
          <p:cNvPr id="6" name="Text 2"/>
          <p:cNvSpPr txBox="1"/>
          <p:nvPr/>
        </p:nvSpPr>
        <p:spPr>
          <a:xfrm>
            <a:off x="822960" y="2331720"/>
            <a:ext cx="10515600" cy="411480"/>
          </a:xfrm>
          <a:prstGeom prst="rect">
            <a:avLst/>
          </a:prstGeom>
          <a:noFill/>
          <a:ln/>
        </p:spPr>
        <p:txBody>
          <a:bodyPr wrap="square" lIns="0" tIns="0" rIns="0" bIns="0" rtlCol="0" anchor="ctr"/>
          <a:lstStyle/>
          <a:p>
            <a:pPr indent="0" marL="0">
              <a:buNone/>
            </a:pPr>
            <a:r>
              <a:rPr lang="en-US" sz="1400" b="1" spc="300" kern="0" dirty="0">
                <a:solidFill>
                  <a:srgbClr val="F2A65A"/>
                </a:solidFill>
                <a:latin typeface="Calibri" pitchFamily="34" charset="0"/>
                <a:ea typeface="Calibri" pitchFamily="34" charset="-122"/>
                <a:cs typeface="Calibri" pitchFamily="34" charset="-120"/>
              </a:rPr>
              <a:t>ERASMUS INTERNSHIP PROGRESS</a:t>
            </a:r>
            <a:endParaRPr lang="en-US" sz="1400" dirty="0"/>
          </a:p>
        </p:txBody>
      </p:sp>
      <p:sp>
        <p:nvSpPr>
          <p:cNvPr id="7" name="Text 3"/>
          <p:cNvSpPr txBox="1"/>
          <p:nvPr/>
        </p:nvSpPr>
        <p:spPr>
          <a:xfrm>
            <a:off x="777240" y="2743200"/>
            <a:ext cx="10515600" cy="1737360"/>
          </a:xfrm>
          <a:prstGeom prst="rect">
            <a:avLst/>
          </a:prstGeom>
          <a:noFill/>
          <a:ln/>
        </p:spPr>
        <p:txBody>
          <a:bodyPr wrap="square" lIns="0" tIns="0" rIns="0" bIns="0" rtlCol="0" anchor="ctr"/>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AI-Assisted System-Test</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Generator</a:t>
            </a:r>
            <a:endParaRPr lang="en-US" sz="4600" dirty="0"/>
          </a:p>
        </p:txBody>
      </p:sp>
      <p:sp>
        <p:nvSpPr>
          <p:cNvPr id="8" name="Text 4"/>
          <p:cNvSpPr txBox="1"/>
          <p:nvPr/>
        </p:nvSpPr>
        <p:spPr>
          <a:xfrm>
            <a:off x="822960" y="4434840"/>
            <a:ext cx="8778240" cy="64008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Generating structured, source-grounded system test cases from requirements and architecture documentation</a:t>
            </a:r>
            <a:endParaRPr lang="en-US" sz="1500" dirty="0"/>
          </a:p>
        </p:txBody>
      </p:sp>
      <p:sp>
        <p:nvSpPr>
          <p:cNvPr id="9" name="Shape 5"/>
          <p:cNvSpPr/>
          <p:nvPr/>
        </p:nvSpPr>
        <p:spPr>
          <a:xfrm>
            <a:off x="822960" y="5257800"/>
            <a:ext cx="1828800" cy="0"/>
          </a:xfrm>
          <a:prstGeom prst="line">
            <a:avLst/>
          </a:prstGeom>
          <a:noFill/>
          <a:ln w="25400">
            <a:solidFill>
              <a:srgbClr val="F2A65A"/>
            </a:solidFill>
            <a:prstDash val="solid"/>
          </a:ln>
        </p:spPr>
      </p:sp>
      <p:sp>
        <p:nvSpPr>
          <p:cNvPr id="10" name="Text 6"/>
          <p:cNvSpPr txBox="1"/>
          <p:nvPr/>
        </p:nvSpPr>
        <p:spPr>
          <a:xfrm>
            <a:off x="822960" y="5394960"/>
            <a:ext cx="548640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Sıla Özcan</a:t>
            </a:r>
            <a:endParaRPr lang="en-US" sz="2000" dirty="0"/>
          </a:p>
        </p:txBody>
      </p:sp>
      <p:sp>
        <p:nvSpPr>
          <p:cNvPr id="11" name="Text 7"/>
          <p:cNvSpPr txBox="1"/>
          <p:nvPr/>
        </p:nvSpPr>
        <p:spPr>
          <a:xfrm>
            <a:off x="822960" y="5852160"/>
            <a:ext cx="73152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Erasmus Internship Program  ·  Progress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56032"/>
            <a:ext cx="11091672" cy="274320"/>
          </a:xfrm>
          <a:prstGeom prst="rect">
            <a:avLst/>
          </a:prstGeom>
          <a:noFill/>
          <a:ln/>
        </p:spPr>
        <p:txBody>
          <a:bodyPr wrap="square" lIns="0" tIns="0" rIns="0" bIns="0" rtlCol="0" anchor="ctr"/>
          <a:lstStyle/>
          <a:p>
            <a:pPr algn="l" indent="0" marL="0">
              <a:buNone/>
            </a:pPr>
            <a:r>
              <a:rPr lang="en-US" sz="1200" b="1" spc="200" kern="0" dirty="0">
                <a:solidFill>
                  <a:srgbClr val="F2A65A"/>
                </a:solidFill>
                <a:latin typeface="Calibri" pitchFamily="34" charset="0"/>
                <a:ea typeface="Calibri" pitchFamily="34" charset="-122"/>
                <a:cs typeface="Calibri" pitchFamily="34" charset="-120"/>
              </a:rPr>
              <a:t>OVERVIEW</a:t>
            </a:r>
            <a:endParaRPr lang="en-US" sz="1200" dirty="0"/>
          </a:p>
        </p:txBody>
      </p:sp>
      <p:sp>
        <p:nvSpPr>
          <p:cNvPr id="3" name="Text 1"/>
          <p:cNvSpPr txBox="1"/>
          <p:nvPr/>
        </p:nvSpPr>
        <p:spPr>
          <a:xfrm>
            <a:off x="548640" y="457200"/>
            <a:ext cx="11091672" cy="73152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Project Goal</a:t>
            </a:r>
            <a:endParaRPr lang="en-US" sz="3000" dirty="0"/>
          </a:p>
        </p:txBody>
      </p:sp>
      <p:sp>
        <p:nvSpPr>
          <p:cNvPr id="4" name="Text 2"/>
          <p:cNvSpPr txBox="1"/>
          <p:nvPr/>
        </p:nvSpPr>
        <p:spPr>
          <a:xfrm>
            <a:off x="548640" y="1600200"/>
            <a:ext cx="5943600" cy="4114800"/>
          </a:xfrm>
          <a:prstGeom prst="rect">
            <a:avLst/>
          </a:prstGeom>
          <a:noFill/>
          <a:ln/>
        </p:spPr>
        <p:txBody>
          <a:bodyPr wrap="square" lIns="0" tIns="0" rIns="0" bIns="0" rtlCol="0" anchor="t"/>
          <a:lstStyle/>
          <a:p>
            <a:pPr marL="228600" indent="-228600">
              <a:spcAft>
                <a:spcPts val="1800"/>
              </a:spcAft>
              <a:buSzPct val="100000"/>
              <a:buChar char="•"/>
            </a:pPr>
            <a:r>
              <a:rPr lang="en-US" sz="1600" dirty="0">
                <a:solidFill>
                  <a:srgbClr val="1E2761"/>
                </a:solidFill>
                <a:latin typeface="Calibri" pitchFamily="34" charset="0"/>
                <a:ea typeface="Calibri" pitchFamily="34" charset="-122"/>
                <a:cs typeface="Calibri" pitchFamily="34" charset="-120"/>
              </a:rPr>
              <a:t>Automatically generate structured system test cases from requirements and architecture documentation</a:t>
            </a:r>
            <a:endParaRPr lang="en-US" sz="1600" dirty="0"/>
          </a:p>
          <a:p>
            <a:pPr marL="228600" indent="-228600">
              <a:spcAft>
                <a:spcPts val="1800"/>
              </a:spcAft>
              <a:buSzPct val="100000"/>
              <a:buChar char="•"/>
            </a:pPr>
            <a:r>
              <a:rPr lang="en-US" sz="1600" dirty="0">
                <a:solidFill>
                  <a:srgbClr val="1E2761"/>
                </a:solidFill>
                <a:latin typeface="Calibri" pitchFamily="34" charset="0"/>
                <a:ea typeface="Calibri" pitchFamily="34" charset="-122"/>
                <a:cs typeface="Calibri" pitchFamily="34" charset="-120"/>
              </a:rPr>
              <a:t>Ensure every generated test case is grounded in source documents, not invented</a:t>
            </a:r>
            <a:endParaRPr lang="en-US" sz="1600" dirty="0"/>
          </a:p>
          <a:p>
            <a:pPr marL="228600" indent="-228600">
              <a:spcAft>
                <a:spcPts val="1800"/>
              </a:spcAft>
              <a:buSzPct val="100000"/>
              <a:buChar char="•"/>
            </a:pPr>
            <a:r>
              <a:rPr lang="en-US" sz="1600" dirty="0">
                <a:solidFill>
                  <a:srgbClr val="1E2761"/>
                </a:solidFill>
                <a:latin typeface="Calibri" pitchFamily="34" charset="0"/>
                <a:ea typeface="Calibri" pitchFamily="34" charset="-122"/>
                <a:cs typeface="Calibri" pitchFamily="34" charset="-120"/>
              </a:rPr>
              <a:t>Reduce manual test-case drafting effort for engineers</a:t>
            </a:r>
            <a:endParaRPr lang="en-US" sz="1600" dirty="0"/>
          </a:p>
          <a:p>
            <a:pPr marL="228600" indent="-228600">
              <a:spcAft>
                <a:spcPts val="1800"/>
              </a:spcAft>
              <a:buSzPct val="100000"/>
              <a:buChar char="•"/>
            </a:pPr>
            <a:r>
              <a:rPr lang="en-US" sz="1600" dirty="0">
                <a:solidFill>
                  <a:srgbClr val="1E2761"/>
                </a:solidFill>
                <a:latin typeface="Calibri" pitchFamily="34" charset="0"/>
                <a:ea typeface="Calibri" pitchFamily="34" charset="-122"/>
                <a:cs typeface="Calibri" pitchFamily="34" charset="-120"/>
              </a:rPr>
              <a:t>Operate within existing security and confidentiality constraints of the workspace</a:t>
            </a:r>
            <a:endParaRPr lang="en-US" sz="1600" dirty="0"/>
          </a:p>
        </p:txBody>
      </p:sp>
      <p:sp>
        <p:nvSpPr>
          <p:cNvPr id="5" name="Shape 3"/>
          <p:cNvSpPr/>
          <p:nvPr/>
        </p:nvSpPr>
        <p:spPr>
          <a:xfrm>
            <a:off x="6903720" y="1783080"/>
            <a:ext cx="4754880" cy="1051560"/>
          </a:xfrm>
          <a:prstGeom prst="roundRect">
            <a:avLst>
              <a:gd name="adj" fmla="val 6957"/>
            </a:avLst>
          </a:prstGeom>
          <a:solidFill>
            <a:srgbClr val="FFFFFF"/>
          </a:solidFill>
          <a:ln w="15875">
            <a:solidFill>
              <a:srgbClr val="CADCFC"/>
            </a:solidFill>
            <a:prstDash val="solid"/>
          </a:ln>
          <a:effectLst>
            <a:outerShdw sx="100000" sy="100000" kx="0" ky="0" algn="bl" rotWithShape="0" blurRad="76200" dist="25400" dir="5400000">
              <a:srgbClr val="1E2761">
                <a:alpha val="12000"/>
              </a:srgbClr>
            </a:outerShdw>
          </a:effectLst>
        </p:spPr>
      </p:sp>
      <p:sp>
        <p:nvSpPr>
          <p:cNvPr id="6" name="Shape 4"/>
          <p:cNvSpPr/>
          <p:nvPr/>
        </p:nvSpPr>
        <p:spPr>
          <a:xfrm>
            <a:off x="7086600" y="1984248"/>
            <a:ext cx="640080" cy="640080"/>
          </a:xfrm>
          <a:prstGeom prst="ellipse">
            <a:avLst/>
          </a:prstGeom>
          <a:solidFill>
            <a:srgbClr val="1E2761"/>
          </a:solidFill>
          <a:ln/>
        </p:spPr>
      </p:sp>
      <p:pic>
        <p:nvPicPr>
          <p:cNvPr id="7" name="Image 0" descr="/home/claude/icons/listcheck.png">    </p:cNvPr>
          <p:cNvPicPr>
            <a:picLocks noChangeAspect="1"/>
          </p:cNvPicPr>
          <p:nvPr/>
        </p:nvPicPr>
        <p:blipFill>
          <a:blip r:embed="rId1"/>
          <a:stretch>
            <a:fillRect/>
          </a:stretch>
        </p:blipFill>
        <p:spPr>
          <a:xfrm>
            <a:off x="7232904" y="2130552"/>
            <a:ext cx="347472" cy="347472"/>
          </a:xfrm>
          <a:prstGeom prst="rect">
            <a:avLst/>
          </a:prstGeom>
        </p:spPr>
      </p:pic>
      <p:sp>
        <p:nvSpPr>
          <p:cNvPr id="8" name="Text 5"/>
          <p:cNvSpPr txBox="1"/>
          <p:nvPr/>
        </p:nvSpPr>
        <p:spPr>
          <a:xfrm>
            <a:off x="7863840" y="1783080"/>
            <a:ext cx="3657600" cy="10515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Requirements &amp;</a:t>
            </a:r>
            <a:endParaRPr lang="en-US" sz="1400" dirty="0"/>
          </a:p>
          <a:p>
            <a:pPr indent="0" marL="0">
              <a:buNone/>
            </a:pPr>
            <a:r>
              <a:rPr lang="en-US" sz="1400" b="1" dirty="0">
                <a:solidFill>
                  <a:srgbClr val="1E2761"/>
                </a:solidFill>
                <a:latin typeface="Calibri" pitchFamily="34" charset="0"/>
                <a:ea typeface="Calibri" pitchFamily="34" charset="-122"/>
                <a:cs typeface="Calibri" pitchFamily="34" charset="-120"/>
              </a:rPr>
              <a:t>Architecture Docs</a:t>
            </a:r>
            <a:endParaRPr lang="en-US" sz="1400" dirty="0"/>
          </a:p>
        </p:txBody>
      </p:sp>
      <p:pic>
        <p:nvPicPr>
          <p:cNvPr id="9" name="Image 1" descr="/home/claude/icons/arrow.png">    </p:cNvPr>
          <p:cNvPicPr>
            <a:picLocks noChangeAspect="1"/>
          </p:cNvPicPr>
          <p:nvPr/>
        </p:nvPicPr>
        <p:blipFill>
          <a:blip r:embed="rId2"/>
          <a:stretch>
            <a:fillRect/>
          </a:stretch>
        </p:blipFill>
        <p:spPr>
          <a:xfrm>
            <a:off x="9116568" y="2862072"/>
            <a:ext cx="329184" cy="329184"/>
          </a:xfrm>
          <a:prstGeom prst="rect">
            <a:avLst/>
          </a:prstGeom>
        </p:spPr>
      </p:pic>
      <p:sp>
        <p:nvSpPr>
          <p:cNvPr id="10" name="Shape 6"/>
          <p:cNvSpPr/>
          <p:nvPr/>
        </p:nvSpPr>
        <p:spPr>
          <a:xfrm>
            <a:off x="6903720" y="3200400"/>
            <a:ext cx="4754880" cy="1051560"/>
          </a:xfrm>
          <a:prstGeom prst="roundRect">
            <a:avLst>
              <a:gd name="adj" fmla="val 6957"/>
            </a:avLst>
          </a:prstGeom>
          <a:solidFill>
            <a:srgbClr val="FFFFFF"/>
          </a:solidFill>
          <a:ln w="15875">
            <a:solidFill>
              <a:srgbClr val="CADCFC"/>
            </a:solidFill>
            <a:prstDash val="solid"/>
          </a:ln>
          <a:effectLst>
            <a:outerShdw sx="100000" sy="100000" kx="0" ky="0" algn="bl" rotWithShape="0" blurRad="76200" dist="25400" dir="5400000">
              <a:srgbClr val="1E2761">
                <a:alpha val="12000"/>
              </a:srgbClr>
            </a:outerShdw>
          </a:effectLst>
        </p:spPr>
      </p:sp>
      <p:sp>
        <p:nvSpPr>
          <p:cNvPr id="11" name="Shape 7"/>
          <p:cNvSpPr/>
          <p:nvPr/>
        </p:nvSpPr>
        <p:spPr>
          <a:xfrm>
            <a:off x="7086600" y="3401568"/>
            <a:ext cx="640080" cy="640080"/>
          </a:xfrm>
          <a:prstGeom prst="ellipse">
            <a:avLst/>
          </a:prstGeom>
          <a:solidFill>
            <a:srgbClr val="1E2761"/>
          </a:solidFill>
          <a:ln/>
        </p:spPr>
      </p:sp>
      <p:pic>
        <p:nvPicPr>
          <p:cNvPr id="12" name="Image 2" descr="/home/claude/icons/microchip.png">    </p:cNvPr>
          <p:cNvPicPr>
            <a:picLocks noChangeAspect="1"/>
          </p:cNvPicPr>
          <p:nvPr/>
        </p:nvPicPr>
        <p:blipFill>
          <a:blip r:embed="rId3"/>
          <a:stretch>
            <a:fillRect/>
          </a:stretch>
        </p:blipFill>
        <p:spPr>
          <a:xfrm>
            <a:off x="7232904" y="3547872"/>
            <a:ext cx="347472" cy="347472"/>
          </a:xfrm>
          <a:prstGeom prst="rect">
            <a:avLst/>
          </a:prstGeom>
        </p:spPr>
      </p:pic>
      <p:sp>
        <p:nvSpPr>
          <p:cNvPr id="13" name="Text 8"/>
          <p:cNvSpPr txBox="1"/>
          <p:nvPr/>
        </p:nvSpPr>
        <p:spPr>
          <a:xfrm>
            <a:off x="7863840" y="3200400"/>
            <a:ext cx="3657600" cy="10515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AI-Assisted</a:t>
            </a:r>
            <a:endParaRPr lang="en-US" sz="1400" dirty="0"/>
          </a:p>
          <a:p>
            <a:pPr indent="0" marL="0">
              <a:buNone/>
            </a:pPr>
            <a:r>
              <a:rPr lang="en-US" sz="1400" b="1" dirty="0">
                <a:solidFill>
                  <a:srgbClr val="1E2761"/>
                </a:solidFill>
                <a:latin typeface="Calibri" pitchFamily="34" charset="0"/>
                <a:ea typeface="Calibri" pitchFamily="34" charset="-122"/>
                <a:cs typeface="Calibri" pitchFamily="34" charset="-120"/>
              </a:rPr>
              <a:t>Generator</a:t>
            </a:r>
            <a:endParaRPr lang="en-US" sz="1400" dirty="0"/>
          </a:p>
        </p:txBody>
      </p:sp>
      <p:pic>
        <p:nvPicPr>
          <p:cNvPr id="14" name="Image 3" descr="/home/claude/icons/arrow.png">    </p:cNvPr>
          <p:cNvPicPr>
            <a:picLocks noChangeAspect="1"/>
          </p:cNvPicPr>
          <p:nvPr/>
        </p:nvPicPr>
        <p:blipFill>
          <a:blip r:embed="rId4"/>
          <a:stretch>
            <a:fillRect/>
          </a:stretch>
        </p:blipFill>
        <p:spPr>
          <a:xfrm>
            <a:off x="9116568" y="4279392"/>
            <a:ext cx="329184" cy="329184"/>
          </a:xfrm>
          <a:prstGeom prst="rect">
            <a:avLst/>
          </a:prstGeom>
        </p:spPr>
      </p:pic>
      <p:sp>
        <p:nvSpPr>
          <p:cNvPr id="15" name="Shape 9"/>
          <p:cNvSpPr/>
          <p:nvPr/>
        </p:nvSpPr>
        <p:spPr>
          <a:xfrm>
            <a:off x="6903720" y="4617720"/>
            <a:ext cx="4754880" cy="1051560"/>
          </a:xfrm>
          <a:prstGeom prst="roundRect">
            <a:avLst>
              <a:gd name="adj" fmla="val 6957"/>
            </a:avLst>
          </a:prstGeom>
          <a:solidFill>
            <a:srgbClr val="FFFFFF"/>
          </a:solidFill>
          <a:ln w="15875">
            <a:solidFill>
              <a:srgbClr val="CADCFC"/>
            </a:solidFill>
            <a:prstDash val="solid"/>
          </a:ln>
          <a:effectLst>
            <a:outerShdw sx="100000" sy="100000" kx="0" ky="0" algn="bl" rotWithShape="0" blurRad="76200" dist="25400" dir="5400000">
              <a:srgbClr val="1E2761">
                <a:alpha val="12000"/>
              </a:srgbClr>
            </a:outerShdw>
          </a:effectLst>
        </p:spPr>
      </p:sp>
      <p:sp>
        <p:nvSpPr>
          <p:cNvPr id="16" name="Shape 10"/>
          <p:cNvSpPr/>
          <p:nvPr/>
        </p:nvSpPr>
        <p:spPr>
          <a:xfrm>
            <a:off x="7086600" y="4818888"/>
            <a:ext cx="640080" cy="640080"/>
          </a:xfrm>
          <a:prstGeom prst="ellipse">
            <a:avLst/>
          </a:prstGeom>
          <a:solidFill>
            <a:srgbClr val="1E2761"/>
          </a:solidFill>
          <a:ln/>
        </p:spPr>
      </p:sp>
      <p:pic>
        <p:nvPicPr>
          <p:cNvPr id="17" name="Image 4" descr="/home/claude/icons/check.png">    </p:cNvPr>
          <p:cNvPicPr>
            <a:picLocks noChangeAspect="1"/>
          </p:cNvPicPr>
          <p:nvPr/>
        </p:nvPicPr>
        <p:blipFill>
          <a:blip r:embed="rId5"/>
          <a:stretch>
            <a:fillRect/>
          </a:stretch>
        </p:blipFill>
        <p:spPr>
          <a:xfrm>
            <a:off x="7232904" y="4965192"/>
            <a:ext cx="347472" cy="347472"/>
          </a:xfrm>
          <a:prstGeom prst="rect">
            <a:avLst/>
          </a:prstGeom>
        </p:spPr>
      </p:pic>
      <p:sp>
        <p:nvSpPr>
          <p:cNvPr id="18" name="Text 11"/>
          <p:cNvSpPr txBox="1"/>
          <p:nvPr/>
        </p:nvSpPr>
        <p:spPr>
          <a:xfrm>
            <a:off x="7863840" y="4617720"/>
            <a:ext cx="3657600" cy="10515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Structured, Source-</a:t>
            </a:r>
            <a:endParaRPr lang="en-US" sz="1400" dirty="0"/>
          </a:p>
          <a:p>
            <a:pPr indent="0" marL="0">
              <a:buNone/>
            </a:pPr>
            <a:r>
              <a:rPr lang="en-US" sz="1400" b="1" dirty="0">
                <a:solidFill>
                  <a:srgbClr val="1E2761"/>
                </a:solidFill>
                <a:latin typeface="Calibri" pitchFamily="34" charset="0"/>
                <a:ea typeface="Calibri" pitchFamily="34" charset="-122"/>
                <a:cs typeface="Calibri" pitchFamily="34" charset="-120"/>
              </a:rPr>
              <a:t>Grounded Test Cases</a:t>
            </a:r>
            <a:endParaRPr lang="en-US" sz="1400" dirty="0"/>
          </a:p>
        </p:txBody>
      </p:sp>
      <p:sp>
        <p:nvSpPr>
          <p:cNvPr id="19" name="Text 12"/>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C"/>
                </a:solidFill>
                <a:latin typeface="Calibri" pitchFamily="34" charset="0"/>
                <a:ea typeface="Calibri" pitchFamily="34" charset="-122"/>
                <a:cs typeface="Calibri" pitchFamily="34" charset="-120"/>
              </a:rPr>
              <a:t>Erasmus Internship Progress — Sıla Özcan</a:t>
            </a:r>
            <a:endParaRPr lang="en-US" sz="900" dirty="0"/>
          </a:p>
        </p:txBody>
      </p:sp>
      <p:sp>
        <p:nvSpPr>
          <p:cNvPr id="20" name="Text 13"/>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56032"/>
            <a:ext cx="11091672" cy="274320"/>
          </a:xfrm>
          <a:prstGeom prst="rect">
            <a:avLst/>
          </a:prstGeom>
          <a:noFill/>
          <a:ln/>
        </p:spPr>
        <p:txBody>
          <a:bodyPr wrap="square" lIns="0" tIns="0" rIns="0" bIns="0" rtlCol="0" anchor="ctr"/>
          <a:lstStyle/>
          <a:p>
            <a:pPr algn="l" indent="0" marL="0">
              <a:buNone/>
            </a:pPr>
            <a:r>
              <a:rPr lang="en-US" sz="1200" b="1" spc="200" kern="0" dirty="0">
                <a:solidFill>
                  <a:srgbClr val="F2A65A"/>
                </a:solidFill>
                <a:latin typeface="Calibri" pitchFamily="34" charset="0"/>
                <a:ea typeface="Calibri" pitchFamily="34" charset="-122"/>
                <a:cs typeface="Calibri" pitchFamily="34" charset="-120"/>
              </a:rPr>
              <a:t>TIMELINE</a:t>
            </a:r>
            <a:endParaRPr lang="en-US" sz="1200" dirty="0"/>
          </a:p>
        </p:txBody>
      </p:sp>
      <p:sp>
        <p:nvSpPr>
          <p:cNvPr id="3" name="Text 1"/>
          <p:cNvSpPr txBox="1"/>
          <p:nvPr/>
        </p:nvSpPr>
        <p:spPr>
          <a:xfrm>
            <a:off x="548640" y="457200"/>
            <a:ext cx="11091672" cy="73152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Generator Evolution: Baseline → Evaluation</a:t>
            </a:r>
            <a:endParaRPr lang="en-US" sz="3000" dirty="0"/>
          </a:p>
        </p:txBody>
      </p:sp>
      <p:sp>
        <p:nvSpPr>
          <p:cNvPr id="4" name="Shape 2"/>
          <p:cNvSpPr/>
          <p:nvPr/>
        </p:nvSpPr>
        <p:spPr>
          <a:xfrm>
            <a:off x="1143000" y="2468880"/>
            <a:ext cx="9902952" cy="0"/>
          </a:xfrm>
          <a:prstGeom prst="line">
            <a:avLst/>
          </a:prstGeom>
          <a:noFill/>
          <a:ln w="38100">
            <a:solidFill>
              <a:srgbClr val="CADCFC"/>
            </a:solidFill>
            <a:prstDash val="solid"/>
          </a:ln>
        </p:spPr>
      </p:sp>
      <p:sp>
        <p:nvSpPr>
          <p:cNvPr id="5" name="Shape 3"/>
          <p:cNvSpPr/>
          <p:nvPr/>
        </p:nvSpPr>
        <p:spPr>
          <a:xfrm>
            <a:off x="502920" y="2148840"/>
            <a:ext cx="640080" cy="640080"/>
          </a:xfrm>
          <a:prstGeom prst="ellipse">
            <a:avLst/>
          </a:prstGeom>
          <a:solidFill>
            <a:srgbClr val="1E2761"/>
          </a:solidFill>
          <a:ln w="25400">
            <a:solidFill>
              <a:srgbClr val="FFFFFF"/>
            </a:solidFill>
            <a:prstDash val="solid"/>
          </a:ln>
        </p:spPr>
      </p:sp>
      <p:sp>
        <p:nvSpPr>
          <p:cNvPr id="6" name="Text 4"/>
          <p:cNvSpPr txBox="1"/>
          <p:nvPr/>
        </p:nvSpPr>
        <p:spPr>
          <a:xfrm>
            <a:off x="502920" y="21488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91440" y="2926080"/>
            <a:ext cx="1828800" cy="82296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Baseline</a:t>
            </a:r>
            <a:endParaRPr lang="en-US" sz="1250" dirty="0"/>
          </a:p>
          <a:p>
            <a:pPr algn="ctr" indent="0" marL="0">
              <a:buNone/>
            </a:pPr>
            <a:r>
              <a:rPr lang="en-US" sz="1250" b="1" dirty="0">
                <a:solidFill>
                  <a:srgbClr val="1E2761"/>
                </a:solidFill>
                <a:latin typeface="Calibri" pitchFamily="34" charset="0"/>
                <a:ea typeface="Calibri" pitchFamily="34" charset="-122"/>
                <a:cs typeface="Calibri" pitchFamily="34" charset="-120"/>
              </a:rPr>
              <a:t>Generator</a:t>
            </a:r>
            <a:endParaRPr lang="en-US" sz="1250" dirty="0"/>
          </a:p>
        </p:txBody>
      </p:sp>
      <p:sp>
        <p:nvSpPr>
          <p:cNvPr id="8" name="Shape 6"/>
          <p:cNvSpPr/>
          <p:nvPr/>
        </p:nvSpPr>
        <p:spPr>
          <a:xfrm>
            <a:off x="3138678" y="2148840"/>
            <a:ext cx="640080" cy="640080"/>
          </a:xfrm>
          <a:prstGeom prst="ellipse">
            <a:avLst/>
          </a:prstGeom>
          <a:solidFill>
            <a:srgbClr val="1E2761"/>
          </a:solidFill>
          <a:ln w="25400">
            <a:solidFill>
              <a:srgbClr val="FFFFFF"/>
            </a:solidFill>
            <a:prstDash val="solid"/>
          </a:ln>
        </p:spPr>
      </p:sp>
      <p:sp>
        <p:nvSpPr>
          <p:cNvPr id="9" name="Text 7"/>
          <p:cNvSpPr txBox="1"/>
          <p:nvPr/>
        </p:nvSpPr>
        <p:spPr>
          <a:xfrm>
            <a:off x="3138678" y="21488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2544318" y="2926080"/>
            <a:ext cx="1828800" cy="82296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On-Prem Model</a:t>
            </a:r>
            <a:endParaRPr lang="en-US" sz="1250" dirty="0"/>
          </a:p>
          <a:p>
            <a:pPr algn="ctr" indent="0" marL="0">
              <a:buNone/>
            </a:pPr>
            <a:r>
              <a:rPr lang="en-US" sz="1250" b="1" dirty="0">
                <a:solidFill>
                  <a:srgbClr val="1E2761"/>
                </a:solidFill>
                <a:latin typeface="Calibri" pitchFamily="34" charset="0"/>
                <a:ea typeface="Calibri" pitchFamily="34" charset="-122"/>
                <a:cs typeface="Calibri" pitchFamily="34" charset="-120"/>
              </a:rPr>
              <a:t>Investigation</a:t>
            </a:r>
            <a:endParaRPr lang="en-US" sz="1250" dirty="0"/>
          </a:p>
        </p:txBody>
      </p:sp>
      <p:sp>
        <p:nvSpPr>
          <p:cNvPr id="11" name="Shape 9"/>
          <p:cNvSpPr/>
          <p:nvPr/>
        </p:nvSpPr>
        <p:spPr>
          <a:xfrm>
            <a:off x="5774436" y="2148840"/>
            <a:ext cx="640080" cy="640080"/>
          </a:xfrm>
          <a:prstGeom prst="ellipse">
            <a:avLst/>
          </a:prstGeom>
          <a:solidFill>
            <a:srgbClr val="1E2761"/>
          </a:solidFill>
          <a:ln w="25400">
            <a:solidFill>
              <a:srgbClr val="FFFFFF"/>
            </a:solidFill>
            <a:prstDash val="solid"/>
          </a:ln>
        </p:spPr>
      </p:sp>
      <p:sp>
        <p:nvSpPr>
          <p:cNvPr id="12" name="Text 10"/>
          <p:cNvSpPr txBox="1"/>
          <p:nvPr/>
        </p:nvSpPr>
        <p:spPr>
          <a:xfrm>
            <a:off x="5774436" y="21488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5180076" y="2926080"/>
            <a:ext cx="1828800" cy="82296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Weaker Model</a:t>
            </a:r>
            <a:endParaRPr lang="en-US" sz="1250" dirty="0"/>
          </a:p>
          <a:p>
            <a:pPr algn="ctr" indent="0" marL="0">
              <a:buNone/>
            </a:pPr>
            <a:r>
              <a:rPr lang="en-US" sz="1250" b="1" dirty="0">
                <a:solidFill>
                  <a:srgbClr val="1E2761"/>
                </a:solidFill>
                <a:latin typeface="Calibri" pitchFamily="34" charset="0"/>
                <a:ea typeface="Calibri" pitchFamily="34" charset="-122"/>
                <a:cs typeface="Calibri" pitchFamily="34" charset="-120"/>
              </a:rPr>
              <a:t>Evaluation</a:t>
            </a:r>
            <a:endParaRPr lang="en-US" sz="1250" dirty="0"/>
          </a:p>
        </p:txBody>
      </p:sp>
      <p:sp>
        <p:nvSpPr>
          <p:cNvPr id="14" name="Shape 12"/>
          <p:cNvSpPr/>
          <p:nvPr/>
        </p:nvSpPr>
        <p:spPr>
          <a:xfrm>
            <a:off x="8410194" y="2148840"/>
            <a:ext cx="640080" cy="640080"/>
          </a:xfrm>
          <a:prstGeom prst="ellipse">
            <a:avLst/>
          </a:prstGeom>
          <a:solidFill>
            <a:srgbClr val="1E2761"/>
          </a:solidFill>
          <a:ln w="25400">
            <a:solidFill>
              <a:srgbClr val="FFFFFF"/>
            </a:solidFill>
            <a:prstDash val="solid"/>
          </a:ln>
        </p:spPr>
      </p:sp>
      <p:sp>
        <p:nvSpPr>
          <p:cNvPr id="15" name="Text 13"/>
          <p:cNvSpPr txBox="1"/>
          <p:nvPr/>
        </p:nvSpPr>
        <p:spPr>
          <a:xfrm>
            <a:off x="8410194" y="21488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4"/>
          <p:cNvSpPr txBox="1"/>
          <p:nvPr/>
        </p:nvSpPr>
        <p:spPr>
          <a:xfrm>
            <a:off x="7815834" y="2926080"/>
            <a:ext cx="1828800" cy="82296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Validation &amp;</a:t>
            </a:r>
            <a:endParaRPr lang="en-US" sz="1250" dirty="0"/>
          </a:p>
          <a:p>
            <a:pPr algn="ctr" indent="0" marL="0">
              <a:buNone/>
            </a:pPr>
            <a:r>
              <a:rPr lang="en-US" sz="1250" b="1" dirty="0">
                <a:solidFill>
                  <a:srgbClr val="1E2761"/>
                </a:solidFill>
                <a:latin typeface="Calibri" pitchFamily="34" charset="0"/>
                <a:ea typeface="Calibri" pitchFamily="34" charset="-122"/>
                <a:cs typeface="Calibri" pitchFamily="34" charset="-120"/>
              </a:rPr>
              <a:t>Batching Improvements</a:t>
            </a:r>
            <a:endParaRPr lang="en-US" sz="1250" dirty="0"/>
          </a:p>
        </p:txBody>
      </p:sp>
      <p:sp>
        <p:nvSpPr>
          <p:cNvPr id="17" name="Shape 15"/>
          <p:cNvSpPr/>
          <p:nvPr/>
        </p:nvSpPr>
        <p:spPr>
          <a:xfrm>
            <a:off x="11045952" y="2148840"/>
            <a:ext cx="640080" cy="640080"/>
          </a:xfrm>
          <a:prstGeom prst="ellipse">
            <a:avLst/>
          </a:prstGeom>
          <a:solidFill>
            <a:srgbClr val="F2A65A"/>
          </a:solidFill>
          <a:ln w="25400">
            <a:solidFill>
              <a:srgbClr val="FFFFFF"/>
            </a:solidFill>
            <a:prstDash val="solid"/>
          </a:ln>
        </p:spPr>
      </p:sp>
      <p:sp>
        <p:nvSpPr>
          <p:cNvPr id="18" name="Text 16"/>
          <p:cNvSpPr txBox="1"/>
          <p:nvPr/>
        </p:nvSpPr>
        <p:spPr>
          <a:xfrm>
            <a:off x="11045952" y="21488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9" name="Text 17"/>
          <p:cNvSpPr txBox="1"/>
          <p:nvPr/>
        </p:nvSpPr>
        <p:spPr>
          <a:xfrm>
            <a:off x="10451592" y="2926080"/>
            <a:ext cx="1828800" cy="82296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Current</a:t>
            </a:r>
            <a:endParaRPr lang="en-US" sz="1250" dirty="0"/>
          </a:p>
          <a:p>
            <a:pPr algn="ctr" indent="0" marL="0">
              <a:buNone/>
            </a:pPr>
            <a:r>
              <a:rPr lang="en-US" sz="1250" b="1" dirty="0">
                <a:solidFill>
                  <a:srgbClr val="1E2761"/>
                </a:solidFill>
                <a:latin typeface="Calibri" pitchFamily="34" charset="0"/>
                <a:ea typeface="Calibri" pitchFamily="34" charset="-122"/>
                <a:cs typeface="Calibri" pitchFamily="34" charset="-120"/>
              </a:rPr>
              <a:t>Evaluation</a:t>
            </a:r>
            <a:endParaRPr lang="en-US" sz="1250" dirty="0"/>
          </a:p>
        </p:txBody>
      </p:sp>
      <p:sp>
        <p:nvSpPr>
          <p:cNvPr id="20" name="Shape 18"/>
          <p:cNvSpPr/>
          <p:nvPr/>
        </p:nvSpPr>
        <p:spPr>
          <a:xfrm>
            <a:off x="548640" y="4160520"/>
            <a:ext cx="11064240" cy="1783080"/>
          </a:xfrm>
          <a:prstGeom prst="roundRect">
            <a:avLst>
              <a:gd name="adj" fmla="val 4103"/>
            </a:avLst>
          </a:prstGeom>
          <a:solidFill>
            <a:srgbClr val="FFFFFF"/>
          </a:solidFill>
          <a:ln w="12700">
            <a:solidFill>
              <a:srgbClr val="CADCFC"/>
            </a:solidFill>
            <a:prstDash val="solid"/>
          </a:ln>
        </p:spPr>
      </p:sp>
      <p:sp>
        <p:nvSpPr>
          <p:cNvPr id="21" name="Text 19"/>
          <p:cNvSpPr txBox="1"/>
          <p:nvPr/>
        </p:nvSpPr>
        <p:spPr>
          <a:xfrm>
            <a:off x="868680" y="4343400"/>
            <a:ext cx="10424160" cy="146304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1E2761"/>
                </a:solidFill>
                <a:latin typeface="Calibri" pitchFamily="34" charset="0"/>
                <a:ea typeface="Calibri" pitchFamily="34" charset="-122"/>
                <a:cs typeface="Calibri" pitchFamily="34" charset="-120"/>
              </a:rPr>
              <a:t>Each stage built on the previous one: infrastructure choice, then model capability, then output quality</a:t>
            </a:r>
            <a:endParaRPr lang="en-US" sz="1400" dirty="0"/>
          </a:p>
          <a:p>
            <a:pPr marL="228600" indent="-228600">
              <a:spcAft>
                <a:spcPts val="1000"/>
              </a:spcAft>
              <a:buSzPct val="100000"/>
              <a:buChar char="•"/>
            </a:pPr>
            <a:r>
              <a:rPr lang="en-US" sz="1400" dirty="0">
                <a:solidFill>
                  <a:srgbClr val="1E2761"/>
                </a:solidFill>
                <a:latin typeface="Calibri" pitchFamily="34" charset="0"/>
                <a:ea typeface="Calibri" pitchFamily="34" charset="-122"/>
                <a:cs typeface="Calibri" pitchFamily="34" charset="-120"/>
              </a:rPr>
              <a:t>Quality work (validation + batching) began once a security-compliant hosting path and candidate model were identified</a:t>
            </a:r>
            <a:endParaRPr lang="en-US" sz="1400" dirty="0"/>
          </a:p>
          <a:p>
            <a:pPr marL="228600" indent="-228600">
              <a:spcAft>
                <a:spcPts val="1000"/>
              </a:spcAft>
              <a:buSzPct val="100000"/>
              <a:buChar char="•"/>
            </a:pPr>
            <a:r>
              <a:rPr lang="en-US" sz="1400" dirty="0">
                <a:solidFill>
                  <a:srgbClr val="1E2761"/>
                </a:solidFill>
                <a:latin typeface="Calibri" pitchFamily="34" charset="0"/>
                <a:ea typeface="Calibri" pitchFamily="34" charset="-122"/>
                <a:cs typeface="Calibri" pitchFamily="34" charset="-120"/>
              </a:rPr>
              <a:t>The project is currently in the evaluation and generalization phase</a:t>
            </a:r>
            <a:endParaRPr lang="en-US" sz="1400" dirty="0"/>
          </a:p>
        </p:txBody>
      </p:sp>
      <p:sp>
        <p:nvSpPr>
          <p:cNvPr id="22" name="Text 2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C"/>
                </a:solidFill>
                <a:latin typeface="Calibri" pitchFamily="34" charset="0"/>
                <a:ea typeface="Calibri" pitchFamily="34" charset="-122"/>
                <a:cs typeface="Calibri" pitchFamily="34" charset="-120"/>
              </a:rPr>
              <a:t>Erasmus Internship Progress — Sıla Özcan</a:t>
            </a:r>
            <a:endParaRPr lang="en-US" sz="900" dirty="0"/>
          </a:p>
        </p:txBody>
      </p:sp>
      <p:sp>
        <p:nvSpPr>
          <p:cNvPr id="23" name="Text 21"/>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56032"/>
            <a:ext cx="11091672" cy="274320"/>
          </a:xfrm>
          <a:prstGeom prst="rect">
            <a:avLst/>
          </a:prstGeom>
          <a:noFill/>
          <a:ln/>
        </p:spPr>
        <p:txBody>
          <a:bodyPr wrap="square" lIns="0" tIns="0" rIns="0" bIns="0" rtlCol="0" anchor="ctr"/>
          <a:lstStyle/>
          <a:p>
            <a:pPr algn="l" indent="0" marL="0">
              <a:buNone/>
            </a:pPr>
            <a:r>
              <a:rPr lang="en-US" sz="1200" b="1" spc="200" kern="0" dirty="0">
                <a:solidFill>
                  <a:srgbClr val="F2A65A"/>
                </a:solidFill>
                <a:latin typeface="Calibri" pitchFamily="34" charset="0"/>
                <a:ea typeface="Calibri" pitchFamily="34" charset="-122"/>
                <a:cs typeface="Calibri" pitchFamily="34" charset="-120"/>
              </a:rPr>
              <a:t>INFRASTRUCTURE</a:t>
            </a:r>
            <a:endParaRPr lang="en-US" sz="1200" dirty="0"/>
          </a:p>
        </p:txBody>
      </p:sp>
      <p:sp>
        <p:nvSpPr>
          <p:cNvPr id="3" name="Text 1"/>
          <p:cNvSpPr txBox="1"/>
          <p:nvPr/>
        </p:nvSpPr>
        <p:spPr>
          <a:xfrm>
            <a:off x="548640" y="457200"/>
            <a:ext cx="11091672" cy="73152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Security-Compliant Local/On-Prem Model Investigation</a:t>
            </a:r>
            <a:endParaRPr lang="en-US" sz="3000" dirty="0"/>
          </a:p>
        </p:txBody>
      </p:sp>
      <p:sp>
        <p:nvSpPr>
          <p:cNvPr id="4" name="Text 2"/>
          <p:cNvSpPr txBox="1"/>
          <p:nvPr/>
        </p:nvSpPr>
        <p:spPr>
          <a:xfrm>
            <a:off x="548640" y="1691640"/>
            <a:ext cx="6400800" cy="4206240"/>
          </a:xfrm>
          <a:prstGeom prst="rect">
            <a:avLst/>
          </a:prstGeom>
          <a:noFill/>
          <a:ln/>
        </p:spPr>
        <p:txBody>
          <a:bodyPr wrap="square" lIns="0" tIns="0" rIns="0" bIns="0" rtlCol="0" anchor="t"/>
          <a:lstStyle/>
          <a:p>
            <a:pPr marL="228600" indent="-228600">
              <a:spcAft>
                <a:spcPts val="1600"/>
              </a:spcAft>
              <a:buSzPct val="100000"/>
              <a:buChar char="•"/>
            </a:pPr>
            <a:r>
              <a:rPr lang="en-US" sz="1550" dirty="0">
                <a:solidFill>
                  <a:srgbClr val="1E2761"/>
                </a:solidFill>
                <a:latin typeface="Calibri" pitchFamily="34" charset="0"/>
                <a:ea typeface="Calibri" pitchFamily="34" charset="-122"/>
                <a:cs typeface="Calibri" pitchFamily="34" charset="-120"/>
              </a:rPr>
              <a:t>Investigated locally hosted / on-premise model options to keep sensitive requirement data inside approved environments</a:t>
            </a:r>
            <a:endParaRPr lang="en-US" sz="1550" dirty="0"/>
          </a:p>
          <a:p>
            <a:pPr marL="228600" indent="-228600">
              <a:spcAft>
                <a:spcPts val="1600"/>
              </a:spcAft>
              <a:buSzPct val="100000"/>
              <a:buChar char="•"/>
            </a:pPr>
            <a:r>
              <a:rPr lang="en-US" sz="1550" dirty="0">
                <a:solidFill>
                  <a:srgbClr val="1E2761"/>
                </a:solidFill>
                <a:latin typeface="Calibri" pitchFamily="34" charset="0"/>
                <a:ea typeface="Calibri" pitchFamily="34" charset="-122"/>
                <a:cs typeface="Calibri" pitchFamily="34" charset="-120"/>
              </a:rPr>
              <a:t>No public model or tooling downloads were performed during the investigation</a:t>
            </a:r>
            <a:endParaRPr lang="en-US" sz="1550" dirty="0"/>
          </a:p>
          <a:p>
            <a:pPr marL="228600" indent="-228600">
              <a:spcAft>
                <a:spcPts val="1600"/>
              </a:spcAft>
              <a:buSzPct val="100000"/>
              <a:buChar char="•"/>
            </a:pPr>
            <a:r>
              <a:rPr lang="en-US" sz="1550" dirty="0">
                <a:solidFill>
                  <a:srgbClr val="1E2761"/>
                </a:solidFill>
                <a:latin typeface="Calibri" pitchFamily="34" charset="0"/>
                <a:ea typeface="Calibri" pitchFamily="34" charset="-122"/>
                <a:cs typeface="Calibri" pitchFamily="34" charset="-120"/>
              </a:rPr>
              <a:t>Existing workspace validation and document allowlists were kept fully intact</a:t>
            </a:r>
            <a:endParaRPr lang="en-US" sz="1550" dirty="0"/>
          </a:p>
          <a:p>
            <a:pPr marL="228600" indent="-228600">
              <a:spcAft>
                <a:spcPts val="1600"/>
              </a:spcAft>
              <a:buSzPct val="100000"/>
              <a:buChar char="•"/>
            </a:pPr>
            <a:r>
              <a:rPr lang="en-US" sz="1550" dirty="0">
                <a:solidFill>
                  <a:srgbClr val="1E2761"/>
                </a:solidFill>
                <a:latin typeface="Calibri" pitchFamily="34" charset="0"/>
                <a:ea typeface="Calibri" pitchFamily="34" charset="-122"/>
                <a:cs typeface="Calibri" pitchFamily="34" charset="-120"/>
              </a:rPr>
              <a:t>Compliance and data-handling constraints were treated as the first filter, before evaluating model capability</a:t>
            </a:r>
            <a:endParaRPr lang="en-US" sz="1550" dirty="0"/>
          </a:p>
        </p:txBody>
      </p:sp>
      <p:sp>
        <p:nvSpPr>
          <p:cNvPr id="5" name="Shape 3"/>
          <p:cNvSpPr/>
          <p:nvPr/>
        </p:nvSpPr>
        <p:spPr>
          <a:xfrm>
            <a:off x="7223760" y="1828800"/>
            <a:ext cx="4434840" cy="1051560"/>
          </a:xfrm>
          <a:prstGeom prst="roundRect">
            <a:avLst>
              <a:gd name="adj" fmla="val 6957"/>
            </a:avLst>
          </a:prstGeom>
          <a:solidFill>
            <a:srgbClr val="1E2761"/>
          </a:solidFill>
          <a:ln/>
        </p:spPr>
      </p:sp>
      <p:sp>
        <p:nvSpPr>
          <p:cNvPr id="6" name="Shape 4"/>
          <p:cNvSpPr/>
          <p:nvPr/>
        </p:nvSpPr>
        <p:spPr>
          <a:xfrm>
            <a:off x="7406640" y="2029968"/>
            <a:ext cx="640080" cy="640080"/>
          </a:xfrm>
          <a:prstGeom prst="ellipse">
            <a:avLst/>
          </a:prstGeom>
          <a:solidFill>
            <a:srgbClr val="2B3A82"/>
          </a:solidFill>
          <a:ln/>
        </p:spPr>
      </p:sp>
      <p:pic>
        <p:nvPicPr>
          <p:cNvPr id="7" name="Image 0" descr="/home/claude/icons/shield.png">    </p:cNvPr>
          <p:cNvPicPr>
            <a:picLocks noChangeAspect="1"/>
          </p:cNvPicPr>
          <p:nvPr/>
        </p:nvPicPr>
        <p:blipFill>
          <a:blip r:embed="rId1"/>
          <a:stretch>
            <a:fillRect/>
          </a:stretch>
        </p:blipFill>
        <p:spPr>
          <a:xfrm>
            <a:off x="7552944" y="2176272"/>
            <a:ext cx="347472" cy="347472"/>
          </a:xfrm>
          <a:prstGeom prst="rect">
            <a:avLst/>
          </a:prstGeom>
        </p:spPr>
      </p:pic>
      <p:sp>
        <p:nvSpPr>
          <p:cNvPr id="8" name="Text 5"/>
          <p:cNvSpPr txBox="1"/>
          <p:nvPr/>
        </p:nvSpPr>
        <p:spPr>
          <a:xfrm>
            <a:off x="8183880" y="1828800"/>
            <a:ext cx="3291840" cy="10515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Compliance-first</a:t>
            </a:r>
            <a:endParaRPr lang="en-US" sz="1350" dirty="0"/>
          </a:p>
          <a:p>
            <a:pPr indent="0" marL="0">
              <a:buNone/>
            </a:pPr>
            <a:r>
              <a:rPr lang="en-US" sz="1350" b="1" dirty="0">
                <a:solidFill>
                  <a:srgbClr val="FFFFFF"/>
                </a:solidFill>
                <a:latin typeface="Calibri" pitchFamily="34" charset="0"/>
                <a:ea typeface="Calibri" pitchFamily="34" charset="-122"/>
                <a:cs typeface="Calibri" pitchFamily="34" charset="-120"/>
              </a:rPr>
              <a:t>approach</a:t>
            </a:r>
            <a:endParaRPr lang="en-US" sz="1350" dirty="0"/>
          </a:p>
        </p:txBody>
      </p:sp>
      <p:sp>
        <p:nvSpPr>
          <p:cNvPr id="9" name="Shape 6"/>
          <p:cNvSpPr/>
          <p:nvPr/>
        </p:nvSpPr>
        <p:spPr>
          <a:xfrm>
            <a:off x="7223760" y="3154680"/>
            <a:ext cx="4434840" cy="1051560"/>
          </a:xfrm>
          <a:prstGeom prst="roundRect">
            <a:avLst>
              <a:gd name="adj" fmla="val 6957"/>
            </a:avLst>
          </a:prstGeom>
          <a:solidFill>
            <a:srgbClr val="1E2761"/>
          </a:solidFill>
          <a:ln/>
        </p:spPr>
      </p:sp>
      <p:sp>
        <p:nvSpPr>
          <p:cNvPr id="10" name="Shape 7"/>
          <p:cNvSpPr/>
          <p:nvPr/>
        </p:nvSpPr>
        <p:spPr>
          <a:xfrm>
            <a:off x="7406640" y="3355848"/>
            <a:ext cx="640080" cy="640080"/>
          </a:xfrm>
          <a:prstGeom prst="ellipse">
            <a:avLst/>
          </a:prstGeom>
          <a:solidFill>
            <a:srgbClr val="2B3A82"/>
          </a:solidFill>
          <a:ln/>
        </p:spPr>
      </p:sp>
      <p:pic>
        <p:nvPicPr>
          <p:cNvPr id="11" name="Image 1" descr="/home/claude/icons/ban.png">    </p:cNvPr>
          <p:cNvPicPr>
            <a:picLocks noChangeAspect="1"/>
          </p:cNvPicPr>
          <p:nvPr/>
        </p:nvPicPr>
        <p:blipFill>
          <a:blip r:embed="rId2"/>
          <a:stretch>
            <a:fillRect/>
          </a:stretch>
        </p:blipFill>
        <p:spPr>
          <a:xfrm>
            <a:off x="7552944" y="3502152"/>
            <a:ext cx="347472" cy="347472"/>
          </a:xfrm>
          <a:prstGeom prst="rect">
            <a:avLst/>
          </a:prstGeom>
        </p:spPr>
      </p:pic>
      <p:sp>
        <p:nvSpPr>
          <p:cNvPr id="12" name="Text 8"/>
          <p:cNvSpPr txBox="1"/>
          <p:nvPr/>
        </p:nvSpPr>
        <p:spPr>
          <a:xfrm>
            <a:off x="8183880" y="3154680"/>
            <a:ext cx="3291840" cy="10515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No public model /</a:t>
            </a:r>
            <a:endParaRPr lang="en-US" sz="1350" dirty="0"/>
          </a:p>
          <a:p>
            <a:pPr indent="0" marL="0">
              <a:buNone/>
            </a:pPr>
            <a:r>
              <a:rPr lang="en-US" sz="1350" b="1" dirty="0">
                <a:solidFill>
                  <a:srgbClr val="FFFFFF"/>
                </a:solidFill>
                <a:latin typeface="Calibri" pitchFamily="34" charset="0"/>
                <a:ea typeface="Calibri" pitchFamily="34" charset="-122"/>
                <a:cs typeface="Calibri" pitchFamily="34" charset="-120"/>
              </a:rPr>
              <a:t>tool downloads</a:t>
            </a:r>
            <a:endParaRPr lang="en-US" sz="1350" dirty="0"/>
          </a:p>
        </p:txBody>
      </p:sp>
      <p:sp>
        <p:nvSpPr>
          <p:cNvPr id="13" name="Shape 9"/>
          <p:cNvSpPr/>
          <p:nvPr/>
        </p:nvSpPr>
        <p:spPr>
          <a:xfrm>
            <a:off x="7223760" y="4480560"/>
            <a:ext cx="4434840" cy="1051560"/>
          </a:xfrm>
          <a:prstGeom prst="roundRect">
            <a:avLst>
              <a:gd name="adj" fmla="val 6957"/>
            </a:avLst>
          </a:prstGeom>
          <a:solidFill>
            <a:srgbClr val="1E2761"/>
          </a:solidFill>
          <a:ln/>
        </p:spPr>
      </p:sp>
      <p:sp>
        <p:nvSpPr>
          <p:cNvPr id="14" name="Shape 10"/>
          <p:cNvSpPr/>
          <p:nvPr/>
        </p:nvSpPr>
        <p:spPr>
          <a:xfrm>
            <a:off x="7406640" y="4681728"/>
            <a:ext cx="640080" cy="640080"/>
          </a:xfrm>
          <a:prstGeom prst="ellipse">
            <a:avLst/>
          </a:prstGeom>
          <a:solidFill>
            <a:srgbClr val="2B3A82"/>
          </a:solidFill>
          <a:ln/>
        </p:spPr>
      </p:sp>
      <p:pic>
        <p:nvPicPr>
          <p:cNvPr id="15" name="Image 2" descr="/home/claude/icons/lock.png">    </p:cNvPr>
          <p:cNvPicPr>
            <a:picLocks noChangeAspect="1"/>
          </p:cNvPicPr>
          <p:nvPr/>
        </p:nvPicPr>
        <p:blipFill>
          <a:blip r:embed="rId3"/>
          <a:stretch>
            <a:fillRect/>
          </a:stretch>
        </p:blipFill>
        <p:spPr>
          <a:xfrm>
            <a:off x="7552944" y="4828032"/>
            <a:ext cx="347472" cy="347472"/>
          </a:xfrm>
          <a:prstGeom prst="rect">
            <a:avLst/>
          </a:prstGeom>
        </p:spPr>
      </p:pic>
      <p:sp>
        <p:nvSpPr>
          <p:cNvPr id="16" name="Text 11"/>
          <p:cNvSpPr txBox="1"/>
          <p:nvPr/>
        </p:nvSpPr>
        <p:spPr>
          <a:xfrm>
            <a:off x="8183880" y="4480560"/>
            <a:ext cx="3291840" cy="10515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Allowlists kept</a:t>
            </a:r>
            <a:endParaRPr lang="en-US" sz="1350" dirty="0"/>
          </a:p>
          <a:p>
            <a:pPr indent="0" marL="0">
              <a:buNone/>
            </a:pPr>
            <a:r>
              <a:rPr lang="en-US" sz="1350" b="1" dirty="0">
                <a:solidFill>
                  <a:srgbClr val="FFFFFF"/>
                </a:solidFill>
                <a:latin typeface="Calibri" pitchFamily="34" charset="0"/>
                <a:ea typeface="Calibri" pitchFamily="34" charset="-122"/>
                <a:cs typeface="Calibri" pitchFamily="34" charset="-120"/>
              </a:rPr>
              <a:t>intact</a:t>
            </a:r>
            <a:endParaRPr lang="en-US" sz="1350" dirty="0"/>
          </a:p>
        </p:txBody>
      </p:sp>
      <p:sp>
        <p:nvSpPr>
          <p:cNvPr id="17" name="Text 12"/>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C"/>
                </a:solidFill>
                <a:latin typeface="Calibri" pitchFamily="34" charset="0"/>
                <a:ea typeface="Calibri" pitchFamily="34" charset="-122"/>
                <a:cs typeface="Calibri" pitchFamily="34" charset="-120"/>
              </a:rPr>
              <a:t>Erasmus Internship Progress — Sıla Özcan</a:t>
            </a:r>
            <a:endParaRPr lang="en-US" sz="900" dirty="0"/>
          </a:p>
        </p:txBody>
      </p:sp>
      <p:sp>
        <p:nvSpPr>
          <p:cNvPr id="18" name="Text 13"/>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56032"/>
            <a:ext cx="11091672" cy="274320"/>
          </a:xfrm>
          <a:prstGeom prst="rect">
            <a:avLst/>
          </a:prstGeom>
          <a:noFill/>
          <a:ln/>
        </p:spPr>
        <p:txBody>
          <a:bodyPr wrap="square" lIns="0" tIns="0" rIns="0" bIns="0" rtlCol="0" anchor="ctr"/>
          <a:lstStyle/>
          <a:p>
            <a:pPr algn="l" indent="0" marL="0">
              <a:buNone/>
            </a:pPr>
            <a:r>
              <a:rPr lang="en-US" sz="1200" b="1" spc="200" kern="0" dirty="0">
                <a:solidFill>
                  <a:srgbClr val="F2A65A"/>
                </a:solidFill>
                <a:latin typeface="Calibri" pitchFamily="34" charset="0"/>
                <a:ea typeface="Calibri" pitchFamily="34" charset="-122"/>
                <a:cs typeface="Calibri" pitchFamily="34" charset="-120"/>
              </a:rPr>
              <a:t>INFRASTRUCTURE</a:t>
            </a:r>
            <a:endParaRPr lang="en-US" sz="1200" dirty="0"/>
          </a:p>
        </p:txBody>
      </p:sp>
      <p:sp>
        <p:nvSpPr>
          <p:cNvPr id="3" name="Text 1"/>
          <p:cNvSpPr txBox="1"/>
          <p:nvPr/>
        </p:nvSpPr>
        <p:spPr>
          <a:xfrm>
            <a:off x="548640" y="457200"/>
            <a:ext cx="11091672" cy="73152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Gateway Access vs. Actual Local Hosting</a:t>
            </a:r>
            <a:endParaRPr lang="en-US" sz="3000" dirty="0"/>
          </a:p>
        </p:txBody>
      </p:sp>
      <p:sp>
        <p:nvSpPr>
          <p:cNvPr id="4" name="Text 2"/>
          <p:cNvSpPr txBox="1"/>
          <p:nvPr/>
        </p:nvSpPr>
        <p:spPr>
          <a:xfrm>
            <a:off x="548640" y="1417320"/>
            <a:ext cx="11064240" cy="457200"/>
          </a:xfrm>
          <a:prstGeom prst="rect">
            <a:avLst/>
          </a:prstGeom>
          <a:noFill/>
          <a:ln/>
        </p:spPr>
        <p:txBody>
          <a:bodyPr wrap="square" lIns="0" tIns="0" rIns="0" bIns="0" rtlCol="0" anchor="ctr"/>
          <a:lstStyle/>
          <a:p>
            <a:pPr indent="0" marL="0">
              <a:buNone/>
            </a:pPr>
            <a:r>
              <a:rPr lang="en-US" sz="1400" i="1" dirty="0">
                <a:solidFill>
                  <a:srgbClr val="5B6B8C"/>
                </a:solidFill>
                <a:latin typeface="Calibri" pitchFamily="34" charset="0"/>
                <a:ea typeface="Calibri" pitchFamily="34" charset="-122"/>
                <a:cs typeface="Calibri" pitchFamily="34" charset="-120"/>
              </a:rPr>
              <a:t>An important distinction surfaced during the investigation: routing through an approved gateway is not the same as hosting a model on-prem.</a:t>
            </a:r>
            <a:endParaRPr lang="en-US" sz="1400" dirty="0"/>
          </a:p>
        </p:txBody>
      </p:sp>
      <p:sp>
        <p:nvSpPr>
          <p:cNvPr id="5" name="Shape 3"/>
          <p:cNvSpPr/>
          <p:nvPr/>
        </p:nvSpPr>
        <p:spPr>
          <a:xfrm>
            <a:off x="548640" y="2057400"/>
            <a:ext cx="5349240" cy="3931920"/>
          </a:xfrm>
          <a:prstGeom prst="roundRect">
            <a:avLst>
              <a:gd name="adj" fmla="val 2326"/>
            </a:avLst>
          </a:prstGeom>
          <a:solidFill>
            <a:srgbClr val="FFFFFF"/>
          </a:solidFill>
          <a:ln w="15875">
            <a:solidFill>
              <a:srgbClr val="CADCFC"/>
            </a:solidFill>
            <a:prstDash val="solid"/>
          </a:ln>
        </p:spPr>
      </p:sp>
      <p:sp>
        <p:nvSpPr>
          <p:cNvPr id="6" name="Shape 4"/>
          <p:cNvSpPr/>
          <p:nvPr/>
        </p:nvSpPr>
        <p:spPr>
          <a:xfrm>
            <a:off x="868680" y="2331720"/>
            <a:ext cx="594360" cy="594360"/>
          </a:xfrm>
          <a:prstGeom prst="ellipse">
            <a:avLst/>
          </a:prstGeom>
          <a:solidFill>
            <a:srgbClr val="CADCFC"/>
          </a:solidFill>
          <a:ln/>
        </p:spPr>
      </p:sp>
      <p:pic>
        <p:nvPicPr>
          <p:cNvPr id="7" name="Image 0" descr="/home/claude/icons/cloud.png">    </p:cNvPr>
          <p:cNvPicPr>
            <a:picLocks noChangeAspect="1"/>
          </p:cNvPicPr>
          <p:nvPr/>
        </p:nvPicPr>
        <p:blipFill>
          <a:blip r:embed="rId1"/>
          <a:stretch>
            <a:fillRect/>
          </a:stretch>
        </p:blipFill>
        <p:spPr>
          <a:xfrm>
            <a:off x="1014984" y="2478024"/>
            <a:ext cx="301752" cy="301752"/>
          </a:xfrm>
          <a:prstGeom prst="rect">
            <a:avLst/>
          </a:prstGeom>
        </p:spPr>
      </p:pic>
      <p:sp>
        <p:nvSpPr>
          <p:cNvPr id="8" name="Text 5"/>
          <p:cNvSpPr txBox="1"/>
          <p:nvPr/>
        </p:nvSpPr>
        <p:spPr>
          <a:xfrm>
            <a:off x="1600200" y="2331720"/>
            <a:ext cx="4251960" cy="5943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Gateway-Routed Access</a:t>
            </a:r>
            <a:endParaRPr lang="en-US" sz="1700" dirty="0"/>
          </a:p>
        </p:txBody>
      </p:sp>
      <p:sp>
        <p:nvSpPr>
          <p:cNvPr id="9" name="Text 6"/>
          <p:cNvSpPr txBox="1"/>
          <p:nvPr/>
        </p:nvSpPr>
        <p:spPr>
          <a:xfrm>
            <a:off x="868680" y="3108960"/>
            <a:ext cx="4709160" cy="2743200"/>
          </a:xfrm>
          <a:prstGeom prst="rect">
            <a:avLst/>
          </a:prstGeom>
          <a:noFill/>
          <a:ln/>
        </p:spPr>
        <p:txBody>
          <a:bodyPr wrap="square" lIns="0" tIns="0" rIns="0" bIns="0" rtlCol="0" anchor="t"/>
          <a:lstStyle/>
          <a:p>
            <a:pPr marL="228600" indent="-228600">
              <a:spcAft>
                <a:spcPts val="1200"/>
              </a:spcAft>
              <a:buSzPct val="100000"/>
              <a:buChar char="•"/>
            </a:pPr>
            <a:r>
              <a:rPr lang="en-US" sz="1350" dirty="0">
                <a:solidFill>
                  <a:srgbClr val="1E2761"/>
                </a:solidFill>
                <a:latin typeface="Calibri" pitchFamily="34" charset="0"/>
                <a:ea typeface="Calibri" pitchFamily="34" charset="-122"/>
                <a:cs typeface="Calibri" pitchFamily="34" charset="-120"/>
              </a:rPr>
              <a:t>Requests routed through an approved internal gateway</a:t>
            </a:r>
            <a:endParaRPr lang="en-US" sz="1350" dirty="0"/>
          </a:p>
          <a:p>
            <a:pPr marL="228600" indent="-228600">
              <a:spcAft>
                <a:spcPts val="1200"/>
              </a:spcAft>
              <a:buSzPct val="100000"/>
              <a:buChar char="•"/>
            </a:pPr>
            <a:r>
              <a:rPr lang="en-US" sz="1350" dirty="0">
                <a:solidFill>
                  <a:srgbClr val="1E2761"/>
                </a:solidFill>
                <a:latin typeface="Calibri" pitchFamily="34" charset="0"/>
                <a:ea typeface="Calibri" pitchFamily="34" charset="-122"/>
                <a:cs typeface="Calibri" pitchFamily="34" charset="-120"/>
              </a:rPr>
              <a:t>Underlying model may still run on external / cloud infrastructure</a:t>
            </a:r>
            <a:endParaRPr lang="en-US" sz="1350" dirty="0"/>
          </a:p>
          <a:p>
            <a:pPr marL="228600" indent="-228600">
              <a:spcAft>
                <a:spcPts val="1200"/>
              </a:spcAft>
              <a:buSzPct val="100000"/>
              <a:buChar char="•"/>
            </a:pPr>
            <a:r>
              <a:rPr lang="en-US" sz="1350" dirty="0">
                <a:solidFill>
                  <a:srgbClr val="1E2761"/>
                </a:solidFill>
                <a:latin typeface="Calibri" pitchFamily="34" charset="0"/>
                <a:ea typeface="Calibri" pitchFamily="34" charset="-122"/>
                <a:cs typeface="Calibri" pitchFamily="34" charset="-120"/>
              </a:rPr>
              <a:t>Uses the existing OpenAI-compatible adapter via base URL and model configuration</a:t>
            </a:r>
            <a:endParaRPr lang="en-US" sz="1350" dirty="0"/>
          </a:p>
        </p:txBody>
      </p:sp>
      <p:sp>
        <p:nvSpPr>
          <p:cNvPr id="10" name="Shape 7"/>
          <p:cNvSpPr/>
          <p:nvPr/>
        </p:nvSpPr>
        <p:spPr>
          <a:xfrm>
            <a:off x="6309360" y="2057400"/>
            <a:ext cx="5349240" cy="3931920"/>
          </a:xfrm>
          <a:prstGeom prst="roundRect">
            <a:avLst>
              <a:gd name="adj" fmla="val 2326"/>
            </a:avLst>
          </a:prstGeom>
          <a:solidFill>
            <a:srgbClr val="1E2761"/>
          </a:solidFill>
          <a:ln/>
        </p:spPr>
      </p:sp>
      <p:sp>
        <p:nvSpPr>
          <p:cNvPr id="11" name="Shape 8"/>
          <p:cNvSpPr/>
          <p:nvPr/>
        </p:nvSpPr>
        <p:spPr>
          <a:xfrm>
            <a:off x="6629400" y="2331720"/>
            <a:ext cx="594360" cy="594360"/>
          </a:xfrm>
          <a:prstGeom prst="ellipse">
            <a:avLst/>
          </a:prstGeom>
          <a:solidFill>
            <a:srgbClr val="2B3A82"/>
          </a:solidFill>
          <a:ln/>
        </p:spPr>
      </p:sp>
      <p:pic>
        <p:nvPicPr>
          <p:cNvPr id="12" name="Image 1" descr="/home/claude/icons/server.png">    </p:cNvPr>
          <p:cNvPicPr>
            <a:picLocks noChangeAspect="1"/>
          </p:cNvPicPr>
          <p:nvPr/>
        </p:nvPicPr>
        <p:blipFill>
          <a:blip r:embed="rId2"/>
          <a:stretch>
            <a:fillRect/>
          </a:stretch>
        </p:blipFill>
        <p:spPr>
          <a:xfrm>
            <a:off x="6775704" y="2478024"/>
            <a:ext cx="301752" cy="301752"/>
          </a:xfrm>
          <a:prstGeom prst="rect">
            <a:avLst/>
          </a:prstGeom>
        </p:spPr>
      </p:pic>
      <p:sp>
        <p:nvSpPr>
          <p:cNvPr id="13" name="Text 9"/>
          <p:cNvSpPr txBox="1"/>
          <p:nvPr/>
        </p:nvSpPr>
        <p:spPr>
          <a:xfrm>
            <a:off x="7360920" y="2331720"/>
            <a:ext cx="4251960" cy="5943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True Local / On-Prem Hosting</a:t>
            </a:r>
            <a:endParaRPr lang="en-US" sz="1700" dirty="0"/>
          </a:p>
        </p:txBody>
      </p:sp>
      <p:sp>
        <p:nvSpPr>
          <p:cNvPr id="14" name="Text 10"/>
          <p:cNvSpPr txBox="1"/>
          <p:nvPr/>
        </p:nvSpPr>
        <p:spPr>
          <a:xfrm>
            <a:off x="6629400" y="3108960"/>
            <a:ext cx="4709160" cy="2743200"/>
          </a:xfrm>
          <a:prstGeom prst="rect">
            <a:avLst/>
          </a:prstGeom>
          <a:noFill/>
          <a:ln/>
        </p:spPr>
        <p:txBody>
          <a:bodyPr wrap="square" lIns="0" tIns="0" rIns="0" bIns="0" rtlCol="0" anchor="t"/>
          <a:lstStyle/>
          <a:p>
            <a:pPr marL="228600" indent="-228600">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Model weights and inference run entirely within on-prem infrastructure</a:t>
            </a:r>
            <a:endParaRPr lang="en-US" sz="1350" dirty="0"/>
          </a:p>
          <a:p>
            <a:pPr marL="228600" indent="-228600">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No data leaves the approved network boundary at any point</a:t>
            </a:r>
            <a:endParaRPr lang="en-US" sz="1350" dirty="0"/>
          </a:p>
          <a:p>
            <a:pPr marL="228600" indent="-228600">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Requires additional infrastructure setup and security validation</a:t>
            </a:r>
            <a:endParaRPr lang="en-US" sz="1350" dirty="0"/>
          </a:p>
        </p:txBody>
      </p:sp>
      <p:sp>
        <p:nvSpPr>
          <p:cNvPr id="15" name="Text 1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C"/>
                </a:solidFill>
                <a:latin typeface="Calibri" pitchFamily="34" charset="0"/>
                <a:ea typeface="Calibri" pitchFamily="34" charset="-122"/>
                <a:cs typeface="Calibri" pitchFamily="34" charset="-120"/>
              </a:rPr>
              <a:t>Erasmus Internship Progress — Sıla Özcan</a:t>
            </a:r>
            <a:endParaRPr lang="en-US" sz="900" dirty="0"/>
          </a:p>
        </p:txBody>
      </p:sp>
      <p:sp>
        <p:nvSpPr>
          <p:cNvPr id="16" name="Text 12"/>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56032"/>
            <a:ext cx="11091672" cy="274320"/>
          </a:xfrm>
          <a:prstGeom prst="rect">
            <a:avLst/>
          </a:prstGeom>
          <a:noFill/>
          <a:ln/>
        </p:spPr>
        <p:txBody>
          <a:bodyPr wrap="square" lIns="0" tIns="0" rIns="0" bIns="0" rtlCol="0" anchor="ctr"/>
          <a:lstStyle/>
          <a:p>
            <a:pPr algn="l" indent="0" marL="0">
              <a:buNone/>
            </a:pPr>
            <a:r>
              <a:rPr lang="en-US" sz="1200" b="1" spc="200" kern="0" dirty="0">
                <a:solidFill>
                  <a:srgbClr val="F2A65A"/>
                </a:solidFill>
                <a:latin typeface="Calibri" pitchFamily="34" charset="0"/>
                <a:ea typeface="Calibri" pitchFamily="34" charset="-122"/>
                <a:cs typeface="Calibri" pitchFamily="34" charset="-120"/>
              </a:rPr>
              <a:t>EVALUATION</a:t>
            </a:r>
            <a:endParaRPr lang="en-US" sz="1200" dirty="0"/>
          </a:p>
        </p:txBody>
      </p:sp>
      <p:sp>
        <p:nvSpPr>
          <p:cNvPr id="3" name="Text 1"/>
          <p:cNvSpPr txBox="1"/>
          <p:nvPr/>
        </p:nvSpPr>
        <p:spPr>
          <a:xfrm>
            <a:off x="548640" y="457200"/>
            <a:ext cx="11091672" cy="73152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Weaker Model Evaluation Approach</a:t>
            </a:r>
            <a:endParaRPr lang="en-US" sz="3000" dirty="0"/>
          </a:p>
        </p:txBody>
      </p:sp>
      <p:sp>
        <p:nvSpPr>
          <p:cNvPr id="4" name="Text 2"/>
          <p:cNvSpPr txBox="1"/>
          <p:nvPr/>
        </p:nvSpPr>
        <p:spPr>
          <a:xfrm>
            <a:off x="548640" y="1691640"/>
            <a:ext cx="6492240" cy="4114800"/>
          </a:xfrm>
          <a:prstGeom prst="rect">
            <a:avLst/>
          </a:prstGeom>
          <a:noFill/>
          <a:ln/>
        </p:spPr>
        <p:txBody>
          <a:bodyPr wrap="square" lIns="0" tIns="0" rIns="0" bIns="0" rtlCol="0" anchor="t"/>
          <a:lstStyle/>
          <a:p>
            <a:pPr marL="228600" indent="-228600">
              <a:spcAft>
                <a:spcPts val="1800"/>
              </a:spcAft>
              <a:buSzPct val="100000"/>
              <a:buChar char="•"/>
            </a:pPr>
            <a:r>
              <a:rPr lang="en-US" sz="1600" dirty="0">
                <a:solidFill>
                  <a:srgbClr val="1E2761"/>
                </a:solidFill>
                <a:latin typeface="Calibri" pitchFamily="34" charset="0"/>
                <a:ea typeface="Calibri" pitchFamily="34" charset="-122"/>
                <a:cs typeface="Calibri" pitchFamily="34" charset="-120"/>
              </a:rPr>
              <a:t>Evaluated a smaller, lower-capability model as a potential lower-cost alternative</a:t>
            </a:r>
            <a:endParaRPr lang="en-US" sz="1600" dirty="0"/>
          </a:p>
          <a:p>
            <a:pPr marL="228600" indent="-228600">
              <a:spcAft>
                <a:spcPts val="1800"/>
              </a:spcAft>
              <a:buSzPct val="100000"/>
              <a:buChar char="•"/>
            </a:pPr>
            <a:r>
              <a:rPr lang="en-US" sz="1600" dirty="0">
                <a:solidFill>
                  <a:srgbClr val="1E2761"/>
                </a:solidFill>
                <a:latin typeface="Calibri" pitchFamily="34" charset="0"/>
                <a:ea typeface="Calibri" pitchFamily="34" charset="-122"/>
                <a:cs typeface="Calibri" pitchFamily="34" charset="-120"/>
              </a:rPr>
              <a:t>Ran the existing generator pipeline unchanged against representative requirement and architecture documents</a:t>
            </a:r>
            <a:endParaRPr lang="en-US" sz="1600" dirty="0"/>
          </a:p>
          <a:p>
            <a:pPr marL="228600" indent="-228600">
              <a:spcAft>
                <a:spcPts val="1800"/>
              </a:spcAft>
              <a:buSzPct val="100000"/>
              <a:buChar char="•"/>
            </a:pPr>
            <a:r>
              <a:rPr lang="en-US" sz="1600" dirty="0">
                <a:solidFill>
                  <a:srgbClr val="1E2761"/>
                </a:solidFill>
                <a:latin typeface="Calibri" pitchFamily="34" charset="0"/>
                <a:ea typeface="Calibri" pitchFamily="34" charset="-122"/>
                <a:cs typeface="Calibri" pitchFamily="34" charset="-120"/>
              </a:rPr>
              <a:t>Compared output structure and content quality against baseline model results</a:t>
            </a:r>
            <a:endParaRPr lang="en-US" sz="1600" dirty="0"/>
          </a:p>
          <a:p>
            <a:pPr marL="228600" indent="-228600">
              <a:spcAft>
                <a:spcPts val="1800"/>
              </a:spcAft>
              <a:buSzPct val="100000"/>
              <a:buChar char="•"/>
            </a:pPr>
            <a:r>
              <a:rPr lang="en-US" sz="1600" dirty="0">
                <a:solidFill>
                  <a:srgbClr val="1E2761"/>
                </a:solidFill>
                <a:latin typeface="Calibri" pitchFamily="34" charset="0"/>
                <a:ea typeface="Calibri" pitchFamily="34" charset="-122"/>
                <a:cs typeface="Calibri" pitchFamily="34" charset="-120"/>
              </a:rPr>
              <a:t>Goal: determine whether cost savings are achievable without losing test-case quality</a:t>
            </a:r>
            <a:endParaRPr lang="en-US" sz="1600" dirty="0"/>
          </a:p>
        </p:txBody>
      </p:sp>
      <p:sp>
        <p:nvSpPr>
          <p:cNvPr id="5" name="Shape 3"/>
          <p:cNvSpPr/>
          <p:nvPr/>
        </p:nvSpPr>
        <p:spPr>
          <a:xfrm>
            <a:off x="7360920" y="1828800"/>
            <a:ext cx="4297680" cy="3840480"/>
          </a:xfrm>
          <a:prstGeom prst="roundRect">
            <a:avLst>
              <a:gd name="adj" fmla="val 2381"/>
            </a:avLst>
          </a:prstGeom>
          <a:solidFill>
            <a:srgbClr val="1E2761"/>
          </a:solidFill>
          <a:ln/>
        </p:spPr>
      </p:sp>
      <p:sp>
        <p:nvSpPr>
          <p:cNvPr id="6" name="Shape 4"/>
          <p:cNvSpPr/>
          <p:nvPr/>
        </p:nvSpPr>
        <p:spPr>
          <a:xfrm>
            <a:off x="7680960" y="2148840"/>
            <a:ext cx="777240" cy="777240"/>
          </a:xfrm>
          <a:prstGeom prst="ellipse">
            <a:avLst/>
          </a:prstGeom>
          <a:solidFill>
            <a:srgbClr val="2B3A82"/>
          </a:solidFill>
          <a:ln/>
        </p:spPr>
      </p:sp>
      <p:pic>
        <p:nvPicPr>
          <p:cNvPr id="7" name="Image 0" descr="/home/claude/icons/balance.png">    </p:cNvPr>
          <p:cNvPicPr>
            <a:picLocks noChangeAspect="1"/>
          </p:cNvPicPr>
          <p:nvPr/>
        </p:nvPicPr>
        <p:blipFill>
          <a:blip r:embed="rId1"/>
          <a:stretch>
            <a:fillRect/>
          </a:stretch>
        </p:blipFill>
        <p:spPr>
          <a:xfrm>
            <a:off x="7827264" y="2295144"/>
            <a:ext cx="484632" cy="484632"/>
          </a:xfrm>
          <a:prstGeom prst="rect">
            <a:avLst/>
          </a:prstGeom>
        </p:spPr>
      </p:pic>
      <p:sp>
        <p:nvSpPr>
          <p:cNvPr id="8" name="Text 5"/>
          <p:cNvSpPr txBox="1"/>
          <p:nvPr/>
        </p:nvSpPr>
        <p:spPr>
          <a:xfrm>
            <a:off x="7635240" y="3063240"/>
            <a:ext cx="3703320" cy="8229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Same Pipeline,</a:t>
            </a:r>
            <a:endParaRPr lang="en-US" sz="1700" dirty="0"/>
          </a:p>
          <a:p>
            <a:pPr indent="0" marL="0">
              <a:buNone/>
            </a:pPr>
            <a:r>
              <a:rPr lang="en-US" sz="1700" b="1" dirty="0">
                <a:solidFill>
                  <a:srgbClr val="FFFFFF"/>
                </a:solidFill>
                <a:latin typeface="Cambria" pitchFamily="34" charset="0"/>
                <a:ea typeface="Cambria" pitchFamily="34" charset="-122"/>
                <a:cs typeface="Cambria" pitchFamily="34" charset="-120"/>
              </a:rPr>
              <a:t>Different Model</a:t>
            </a:r>
            <a:endParaRPr lang="en-US" sz="1700" dirty="0"/>
          </a:p>
        </p:txBody>
      </p:sp>
      <p:sp>
        <p:nvSpPr>
          <p:cNvPr id="9" name="Text 6"/>
          <p:cNvSpPr txBox="1"/>
          <p:nvPr/>
        </p:nvSpPr>
        <p:spPr>
          <a:xfrm>
            <a:off x="7635240" y="3886200"/>
            <a:ext cx="3703320" cy="164592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The generator logic, prompts, and document inputs were kept the same. Only the underlying model was swapped, so any quality differences could be attributed to model capability.</a:t>
            </a:r>
            <a:endParaRPr lang="en-US" sz="1300" dirty="0"/>
          </a:p>
        </p:txBody>
      </p:sp>
      <p:sp>
        <p:nvSpPr>
          <p:cNvPr id="10" name="Text 7"/>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C"/>
                </a:solidFill>
                <a:latin typeface="Calibri" pitchFamily="34" charset="0"/>
                <a:ea typeface="Calibri" pitchFamily="34" charset="-122"/>
                <a:cs typeface="Calibri" pitchFamily="34" charset="-120"/>
              </a:rPr>
              <a:t>Erasmus Internship Progress — Sıla Özcan</a:t>
            </a:r>
            <a:endParaRPr lang="en-US" sz="900" dirty="0"/>
          </a:p>
        </p:txBody>
      </p:sp>
      <p:sp>
        <p:nvSpPr>
          <p:cNvPr id="11" name="Text 8"/>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56032"/>
            <a:ext cx="11091672" cy="274320"/>
          </a:xfrm>
          <a:prstGeom prst="rect">
            <a:avLst/>
          </a:prstGeom>
          <a:noFill/>
          <a:ln/>
        </p:spPr>
        <p:txBody>
          <a:bodyPr wrap="square" lIns="0" tIns="0" rIns="0" bIns="0" rtlCol="0" anchor="ctr"/>
          <a:lstStyle/>
          <a:p>
            <a:pPr algn="l" indent="0" marL="0">
              <a:buNone/>
            </a:pPr>
            <a:r>
              <a:rPr lang="en-US" sz="1200" b="1" spc="200" kern="0" dirty="0">
                <a:solidFill>
                  <a:srgbClr val="1E7A5A"/>
                </a:solidFill>
                <a:latin typeface="Calibri" pitchFamily="34" charset="0"/>
                <a:ea typeface="Calibri" pitchFamily="34" charset="-122"/>
                <a:cs typeface="Calibri" pitchFamily="34" charset="-120"/>
              </a:rPr>
              <a:t>FINDINGS &amp; RESOLUTION</a:t>
            </a:r>
            <a:endParaRPr lang="en-US" sz="1200" dirty="0"/>
          </a:p>
        </p:txBody>
      </p:sp>
      <p:sp>
        <p:nvSpPr>
          <p:cNvPr id="3" name="Text 1"/>
          <p:cNvSpPr txBox="1"/>
          <p:nvPr/>
        </p:nvSpPr>
        <p:spPr>
          <a:xfrm>
            <a:off x="548640" y="457200"/>
            <a:ext cx="11091672" cy="73152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Quality Problems Found — and Resolved</a:t>
            </a:r>
            <a:endParaRPr lang="en-US" sz="3000" dirty="0"/>
          </a:p>
        </p:txBody>
      </p:sp>
      <p:sp>
        <p:nvSpPr>
          <p:cNvPr id="4" name="Shape 2"/>
          <p:cNvSpPr/>
          <p:nvPr/>
        </p:nvSpPr>
        <p:spPr>
          <a:xfrm>
            <a:off x="548640" y="1463040"/>
            <a:ext cx="11064240" cy="658368"/>
          </a:xfrm>
          <a:prstGeom prst="roundRect">
            <a:avLst>
              <a:gd name="adj" fmla="val 11111"/>
            </a:avLst>
          </a:prstGeom>
          <a:solidFill>
            <a:srgbClr val="E7F3EE"/>
          </a:solidFill>
          <a:ln w="12700">
            <a:solidFill>
              <a:srgbClr val="1E7A5A"/>
            </a:solidFill>
            <a:prstDash val="solid"/>
          </a:ln>
        </p:spPr>
      </p:sp>
      <p:sp>
        <p:nvSpPr>
          <p:cNvPr id="5" name="Shape 3"/>
          <p:cNvSpPr/>
          <p:nvPr/>
        </p:nvSpPr>
        <p:spPr>
          <a:xfrm>
            <a:off x="713232" y="1536192"/>
            <a:ext cx="512064" cy="512064"/>
          </a:xfrm>
          <a:prstGeom prst="ellipse">
            <a:avLst/>
          </a:prstGeom>
          <a:solidFill>
            <a:srgbClr val="FFFFFF"/>
          </a:solidFill>
          <a:ln/>
        </p:spPr>
      </p:sp>
      <p:pic>
        <p:nvPicPr>
          <p:cNvPr id="6" name="Image 0" descr="/home/claude/icons/check.png">    </p:cNvPr>
          <p:cNvPicPr>
            <a:picLocks noChangeAspect="1"/>
          </p:cNvPicPr>
          <p:nvPr/>
        </p:nvPicPr>
        <p:blipFill>
          <a:blip r:embed="rId1"/>
          <a:stretch>
            <a:fillRect/>
          </a:stretch>
        </p:blipFill>
        <p:spPr>
          <a:xfrm>
            <a:off x="859536" y="1682496"/>
            <a:ext cx="219456" cy="219456"/>
          </a:xfrm>
          <a:prstGeom prst="rect">
            <a:avLst/>
          </a:prstGeom>
        </p:spPr>
      </p:pic>
      <p:sp>
        <p:nvSpPr>
          <p:cNvPr id="7" name="Text 4"/>
          <p:cNvSpPr txBox="1"/>
          <p:nvPr/>
        </p:nvSpPr>
        <p:spPr>
          <a:xfrm>
            <a:off x="1417320" y="1463040"/>
            <a:ext cx="9966960" cy="658368"/>
          </a:xfrm>
          <a:prstGeom prst="rect">
            <a:avLst/>
          </a:prstGeom>
          <a:noFill/>
          <a:ln/>
        </p:spPr>
        <p:txBody>
          <a:bodyPr wrap="square" lIns="0" tIns="0" rIns="0" bIns="0" rtlCol="0" anchor="ctr"/>
          <a:lstStyle/>
          <a:p>
            <a:pPr indent="0" marL="0">
              <a:buNone/>
            </a:pPr>
            <a:r>
              <a:rPr lang="en-US" sz="1400" b="1" dirty="0">
                <a:solidFill>
                  <a:srgbClr val="17513A"/>
                </a:solidFill>
                <a:latin typeface="Calibri" pitchFamily="34" charset="0"/>
                <a:ea typeface="Calibri" pitchFamily="34" charset="-122"/>
                <a:cs typeface="Calibri" pitchFamily="34" charset="-120"/>
              </a:rPr>
              <a:t>Valid JSON was not enough — each semantic issue below was identified, then closed by the validation and batching improvements that follow.</a:t>
            </a:r>
            <a:endParaRPr lang="en-US" sz="1400" dirty="0"/>
          </a:p>
        </p:txBody>
      </p:sp>
      <p:sp>
        <p:nvSpPr>
          <p:cNvPr id="8" name="Shape 5"/>
          <p:cNvSpPr/>
          <p:nvPr/>
        </p:nvSpPr>
        <p:spPr>
          <a:xfrm>
            <a:off x="548640" y="2395728"/>
            <a:ext cx="11064240" cy="841248"/>
          </a:xfrm>
          <a:prstGeom prst="roundRect">
            <a:avLst>
              <a:gd name="adj" fmla="val 8696"/>
            </a:avLst>
          </a:prstGeom>
          <a:solidFill>
            <a:srgbClr val="FFFFFF"/>
          </a:solidFill>
          <a:ln w="12700">
            <a:solidFill>
              <a:srgbClr val="CADCFC"/>
            </a:solidFill>
            <a:prstDash val="solid"/>
          </a:ln>
        </p:spPr>
      </p:sp>
      <p:sp>
        <p:nvSpPr>
          <p:cNvPr id="9" name="Shape 6"/>
          <p:cNvSpPr/>
          <p:nvPr/>
        </p:nvSpPr>
        <p:spPr>
          <a:xfrm>
            <a:off x="713232" y="2514600"/>
            <a:ext cx="603504" cy="603504"/>
          </a:xfrm>
          <a:prstGeom prst="ellipse">
            <a:avLst/>
          </a:prstGeom>
          <a:solidFill>
            <a:srgbClr val="FDECE3"/>
          </a:solidFill>
          <a:ln/>
        </p:spPr>
      </p:sp>
      <p:pic>
        <p:nvPicPr>
          <p:cNvPr id="10" name="Image 1" descr="/home/claude/icons/warning.png">    </p:cNvPr>
          <p:cNvPicPr>
            <a:picLocks noChangeAspect="1"/>
          </p:cNvPicPr>
          <p:nvPr/>
        </p:nvPicPr>
        <p:blipFill>
          <a:blip r:embed="rId2"/>
          <a:stretch>
            <a:fillRect/>
          </a:stretch>
        </p:blipFill>
        <p:spPr>
          <a:xfrm>
            <a:off x="859536" y="2660904"/>
            <a:ext cx="310896" cy="310896"/>
          </a:xfrm>
          <a:prstGeom prst="rect">
            <a:avLst/>
          </a:prstGeom>
        </p:spPr>
      </p:pic>
      <p:sp>
        <p:nvSpPr>
          <p:cNvPr id="11" name="Text 7"/>
          <p:cNvSpPr txBox="1"/>
          <p:nvPr/>
        </p:nvSpPr>
        <p:spPr>
          <a:xfrm>
            <a:off x="1508760" y="2395728"/>
            <a:ext cx="7818120" cy="841248"/>
          </a:xfrm>
          <a:prstGeom prst="rect">
            <a:avLst/>
          </a:prstGeom>
          <a:noFill/>
          <a:ln/>
        </p:spPr>
        <p:txBody>
          <a:bodyPr wrap="square" lIns="0" tIns="0" rIns="0" bIns="0" rtlCol="0" anchor="ctr"/>
          <a:lstStyle/>
          <a:p>
            <a:pPr indent="0" marL="0">
              <a:buNone/>
            </a:pPr>
            <a:r>
              <a:rPr lang="en-US" sz="1400" dirty="0">
                <a:solidFill>
                  <a:srgbClr val="1E2761"/>
                </a:solidFill>
                <a:latin typeface="Calibri" pitchFamily="34" charset="0"/>
                <a:ea typeface="Calibri" pitchFamily="34" charset="-122"/>
                <a:cs typeface="Calibri" pitchFamily="34" charset="-120"/>
              </a:rPr>
              <a:t>Invented sample values not present in any source document</a:t>
            </a:r>
            <a:endParaRPr lang="en-US" sz="1400" dirty="0"/>
          </a:p>
        </p:txBody>
      </p:sp>
      <p:sp>
        <p:nvSpPr>
          <p:cNvPr id="12" name="Shape 8"/>
          <p:cNvSpPr/>
          <p:nvPr/>
        </p:nvSpPr>
        <p:spPr>
          <a:xfrm>
            <a:off x="9464040" y="2596896"/>
            <a:ext cx="1783080" cy="438912"/>
          </a:xfrm>
          <a:prstGeom prst="roundRect">
            <a:avLst>
              <a:gd name="adj" fmla="val 50000"/>
            </a:avLst>
          </a:prstGeom>
          <a:solidFill>
            <a:srgbClr val="1E7A5A"/>
          </a:solidFill>
          <a:ln/>
        </p:spPr>
      </p:sp>
      <p:pic>
        <p:nvPicPr>
          <p:cNvPr id="13" name="Image 2" descr="/home/claude/icons/check.png">    </p:cNvPr>
          <p:cNvPicPr>
            <a:picLocks noChangeAspect="1"/>
          </p:cNvPicPr>
          <p:nvPr/>
        </p:nvPicPr>
        <p:blipFill>
          <a:blip r:embed="rId3"/>
          <a:stretch>
            <a:fillRect/>
          </a:stretch>
        </p:blipFill>
        <p:spPr>
          <a:xfrm>
            <a:off x="9601200" y="2660904"/>
            <a:ext cx="310896" cy="310896"/>
          </a:xfrm>
          <a:prstGeom prst="rect">
            <a:avLst/>
          </a:prstGeom>
        </p:spPr>
      </p:pic>
      <p:sp>
        <p:nvSpPr>
          <p:cNvPr id="14" name="Text 9"/>
          <p:cNvSpPr txBox="1"/>
          <p:nvPr/>
        </p:nvSpPr>
        <p:spPr>
          <a:xfrm>
            <a:off x="9930384" y="2596896"/>
            <a:ext cx="1234440" cy="43891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Resolved</a:t>
            </a:r>
            <a:endParaRPr lang="en-US" sz="1200" dirty="0"/>
          </a:p>
        </p:txBody>
      </p:sp>
      <p:sp>
        <p:nvSpPr>
          <p:cNvPr id="15" name="Shape 10"/>
          <p:cNvSpPr/>
          <p:nvPr/>
        </p:nvSpPr>
        <p:spPr>
          <a:xfrm>
            <a:off x="548640" y="3383280"/>
            <a:ext cx="11064240" cy="841248"/>
          </a:xfrm>
          <a:prstGeom prst="roundRect">
            <a:avLst>
              <a:gd name="adj" fmla="val 8696"/>
            </a:avLst>
          </a:prstGeom>
          <a:solidFill>
            <a:srgbClr val="FFFFFF"/>
          </a:solidFill>
          <a:ln w="12700">
            <a:solidFill>
              <a:srgbClr val="CADCFC"/>
            </a:solidFill>
            <a:prstDash val="solid"/>
          </a:ln>
        </p:spPr>
      </p:sp>
      <p:sp>
        <p:nvSpPr>
          <p:cNvPr id="16" name="Shape 11"/>
          <p:cNvSpPr/>
          <p:nvPr/>
        </p:nvSpPr>
        <p:spPr>
          <a:xfrm>
            <a:off x="713232" y="3502152"/>
            <a:ext cx="603504" cy="603504"/>
          </a:xfrm>
          <a:prstGeom prst="ellipse">
            <a:avLst/>
          </a:prstGeom>
          <a:solidFill>
            <a:srgbClr val="FDECE3"/>
          </a:solidFill>
          <a:ln/>
        </p:spPr>
      </p:sp>
      <p:pic>
        <p:nvPicPr>
          <p:cNvPr id="17" name="Image 3" descr="/home/claude/icons/warning.png">    </p:cNvPr>
          <p:cNvPicPr>
            <a:picLocks noChangeAspect="1"/>
          </p:cNvPicPr>
          <p:nvPr/>
        </p:nvPicPr>
        <p:blipFill>
          <a:blip r:embed="rId4"/>
          <a:stretch>
            <a:fillRect/>
          </a:stretch>
        </p:blipFill>
        <p:spPr>
          <a:xfrm>
            <a:off x="859536" y="3648456"/>
            <a:ext cx="310896" cy="310896"/>
          </a:xfrm>
          <a:prstGeom prst="rect">
            <a:avLst/>
          </a:prstGeom>
        </p:spPr>
      </p:pic>
      <p:sp>
        <p:nvSpPr>
          <p:cNvPr id="18" name="Text 12"/>
          <p:cNvSpPr txBox="1"/>
          <p:nvPr/>
        </p:nvSpPr>
        <p:spPr>
          <a:xfrm>
            <a:off x="1508760" y="3383280"/>
            <a:ext cx="7818120" cy="841248"/>
          </a:xfrm>
          <a:prstGeom prst="rect">
            <a:avLst/>
          </a:prstGeom>
          <a:noFill/>
          <a:ln/>
        </p:spPr>
        <p:txBody>
          <a:bodyPr wrap="square" lIns="0" tIns="0" rIns="0" bIns="0" rtlCol="0" anchor="ctr"/>
          <a:lstStyle/>
          <a:p>
            <a:pPr indent="0" marL="0">
              <a:buNone/>
            </a:pPr>
            <a:r>
              <a:rPr lang="en-US" sz="1400" dirty="0">
                <a:solidFill>
                  <a:srgbClr val="1E2761"/>
                </a:solidFill>
                <a:latin typeface="Calibri" pitchFamily="34" charset="0"/>
                <a:ea typeface="Calibri" pitchFamily="34" charset="-122"/>
                <a:cs typeface="Calibri" pitchFamily="34" charset="-120"/>
              </a:rPr>
              <a:t>Fabricated UI flows and steps not described in the requirements</a:t>
            </a:r>
            <a:endParaRPr lang="en-US" sz="1400" dirty="0"/>
          </a:p>
        </p:txBody>
      </p:sp>
      <p:sp>
        <p:nvSpPr>
          <p:cNvPr id="19" name="Shape 13"/>
          <p:cNvSpPr/>
          <p:nvPr/>
        </p:nvSpPr>
        <p:spPr>
          <a:xfrm>
            <a:off x="9464040" y="3584448"/>
            <a:ext cx="1783080" cy="438912"/>
          </a:xfrm>
          <a:prstGeom prst="roundRect">
            <a:avLst>
              <a:gd name="adj" fmla="val 50000"/>
            </a:avLst>
          </a:prstGeom>
          <a:solidFill>
            <a:srgbClr val="1E7A5A"/>
          </a:solidFill>
          <a:ln/>
        </p:spPr>
      </p:sp>
      <p:pic>
        <p:nvPicPr>
          <p:cNvPr id="20" name="Image 4" descr="/home/claude/icons/check.png">    </p:cNvPr>
          <p:cNvPicPr>
            <a:picLocks noChangeAspect="1"/>
          </p:cNvPicPr>
          <p:nvPr/>
        </p:nvPicPr>
        <p:blipFill>
          <a:blip r:embed="rId5"/>
          <a:stretch>
            <a:fillRect/>
          </a:stretch>
        </p:blipFill>
        <p:spPr>
          <a:xfrm>
            <a:off x="9601200" y="3648456"/>
            <a:ext cx="310896" cy="310896"/>
          </a:xfrm>
          <a:prstGeom prst="rect">
            <a:avLst/>
          </a:prstGeom>
        </p:spPr>
      </p:pic>
      <p:sp>
        <p:nvSpPr>
          <p:cNvPr id="21" name="Text 14"/>
          <p:cNvSpPr txBox="1"/>
          <p:nvPr/>
        </p:nvSpPr>
        <p:spPr>
          <a:xfrm>
            <a:off x="9930384" y="3584448"/>
            <a:ext cx="1234440" cy="43891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Resolved</a:t>
            </a:r>
            <a:endParaRPr lang="en-US" sz="1200" dirty="0"/>
          </a:p>
        </p:txBody>
      </p:sp>
      <p:sp>
        <p:nvSpPr>
          <p:cNvPr id="22" name="Shape 15"/>
          <p:cNvSpPr/>
          <p:nvPr/>
        </p:nvSpPr>
        <p:spPr>
          <a:xfrm>
            <a:off x="548640" y="4370832"/>
            <a:ext cx="11064240" cy="841248"/>
          </a:xfrm>
          <a:prstGeom prst="roundRect">
            <a:avLst>
              <a:gd name="adj" fmla="val 8696"/>
            </a:avLst>
          </a:prstGeom>
          <a:solidFill>
            <a:srgbClr val="FFFFFF"/>
          </a:solidFill>
          <a:ln w="12700">
            <a:solidFill>
              <a:srgbClr val="CADCFC"/>
            </a:solidFill>
            <a:prstDash val="solid"/>
          </a:ln>
        </p:spPr>
      </p:sp>
      <p:sp>
        <p:nvSpPr>
          <p:cNvPr id="23" name="Shape 16"/>
          <p:cNvSpPr/>
          <p:nvPr/>
        </p:nvSpPr>
        <p:spPr>
          <a:xfrm>
            <a:off x="713232" y="4489704"/>
            <a:ext cx="603504" cy="603504"/>
          </a:xfrm>
          <a:prstGeom prst="ellipse">
            <a:avLst/>
          </a:prstGeom>
          <a:solidFill>
            <a:srgbClr val="FDECE3"/>
          </a:solidFill>
          <a:ln/>
        </p:spPr>
      </p:sp>
      <p:pic>
        <p:nvPicPr>
          <p:cNvPr id="24" name="Image 5" descr="/home/claude/icons/warning.png">    </p:cNvPr>
          <p:cNvPicPr>
            <a:picLocks noChangeAspect="1"/>
          </p:cNvPicPr>
          <p:nvPr/>
        </p:nvPicPr>
        <p:blipFill>
          <a:blip r:embed="rId6"/>
          <a:stretch>
            <a:fillRect/>
          </a:stretch>
        </p:blipFill>
        <p:spPr>
          <a:xfrm>
            <a:off x="859536" y="4636008"/>
            <a:ext cx="310896" cy="310896"/>
          </a:xfrm>
          <a:prstGeom prst="rect">
            <a:avLst/>
          </a:prstGeom>
        </p:spPr>
      </p:pic>
      <p:sp>
        <p:nvSpPr>
          <p:cNvPr id="25" name="Text 17"/>
          <p:cNvSpPr txBox="1"/>
          <p:nvPr/>
        </p:nvSpPr>
        <p:spPr>
          <a:xfrm>
            <a:off x="1508760" y="4370832"/>
            <a:ext cx="7818120" cy="841248"/>
          </a:xfrm>
          <a:prstGeom prst="rect">
            <a:avLst/>
          </a:prstGeom>
          <a:noFill/>
          <a:ln/>
        </p:spPr>
        <p:txBody>
          <a:bodyPr wrap="square" lIns="0" tIns="0" rIns="0" bIns="0" rtlCol="0" anchor="ctr"/>
          <a:lstStyle/>
          <a:p>
            <a:pPr indent="0" marL="0">
              <a:buNone/>
            </a:pPr>
            <a:r>
              <a:rPr lang="en-US" sz="1400" dirty="0">
                <a:solidFill>
                  <a:srgbClr val="1E2761"/>
                </a:solidFill>
                <a:latin typeface="Calibri" pitchFamily="34" charset="0"/>
                <a:ea typeface="Calibri" pitchFamily="34" charset="-122"/>
                <a:cs typeface="Calibri" pitchFamily="34" charset="-120"/>
              </a:rPr>
              <a:t>Added negative / error flows not requested or supported by the source text</a:t>
            </a:r>
            <a:endParaRPr lang="en-US" sz="1400" dirty="0"/>
          </a:p>
        </p:txBody>
      </p:sp>
      <p:sp>
        <p:nvSpPr>
          <p:cNvPr id="26" name="Shape 18"/>
          <p:cNvSpPr/>
          <p:nvPr/>
        </p:nvSpPr>
        <p:spPr>
          <a:xfrm>
            <a:off x="9464040" y="4572000"/>
            <a:ext cx="1783080" cy="438912"/>
          </a:xfrm>
          <a:prstGeom prst="roundRect">
            <a:avLst>
              <a:gd name="adj" fmla="val 50000"/>
            </a:avLst>
          </a:prstGeom>
          <a:solidFill>
            <a:srgbClr val="1E7A5A"/>
          </a:solidFill>
          <a:ln/>
        </p:spPr>
      </p:sp>
      <p:pic>
        <p:nvPicPr>
          <p:cNvPr id="27" name="Image 6" descr="/home/claude/icons/check.png">    </p:cNvPr>
          <p:cNvPicPr>
            <a:picLocks noChangeAspect="1"/>
          </p:cNvPicPr>
          <p:nvPr/>
        </p:nvPicPr>
        <p:blipFill>
          <a:blip r:embed="rId7"/>
          <a:stretch>
            <a:fillRect/>
          </a:stretch>
        </p:blipFill>
        <p:spPr>
          <a:xfrm>
            <a:off x="9601200" y="4636008"/>
            <a:ext cx="310896" cy="310896"/>
          </a:xfrm>
          <a:prstGeom prst="rect">
            <a:avLst/>
          </a:prstGeom>
        </p:spPr>
      </p:pic>
      <p:sp>
        <p:nvSpPr>
          <p:cNvPr id="28" name="Text 19"/>
          <p:cNvSpPr txBox="1"/>
          <p:nvPr/>
        </p:nvSpPr>
        <p:spPr>
          <a:xfrm>
            <a:off x="9930384" y="4572000"/>
            <a:ext cx="1234440" cy="43891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Resolved</a:t>
            </a:r>
            <a:endParaRPr lang="en-US" sz="1200" dirty="0"/>
          </a:p>
        </p:txBody>
      </p:sp>
      <p:sp>
        <p:nvSpPr>
          <p:cNvPr id="29" name="Shape 20"/>
          <p:cNvSpPr/>
          <p:nvPr/>
        </p:nvSpPr>
        <p:spPr>
          <a:xfrm>
            <a:off x="548640" y="5358384"/>
            <a:ext cx="11064240" cy="841248"/>
          </a:xfrm>
          <a:prstGeom prst="roundRect">
            <a:avLst>
              <a:gd name="adj" fmla="val 8696"/>
            </a:avLst>
          </a:prstGeom>
          <a:solidFill>
            <a:srgbClr val="FFFFFF"/>
          </a:solidFill>
          <a:ln w="12700">
            <a:solidFill>
              <a:srgbClr val="CADCFC"/>
            </a:solidFill>
            <a:prstDash val="solid"/>
          </a:ln>
        </p:spPr>
      </p:sp>
      <p:sp>
        <p:nvSpPr>
          <p:cNvPr id="30" name="Shape 21"/>
          <p:cNvSpPr/>
          <p:nvPr/>
        </p:nvSpPr>
        <p:spPr>
          <a:xfrm>
            <a:off x="713232" y="5477256"/>
            <a:ext cx="603504" cy="603504"/>
          </a:xfrm>
          <a:prstGeom prst="ellipse">
            <a:avLst/>
          </a:prstGeom>
          <a:solidFill>
            <a:srgbClr val="FDECE3"/>
          </a:solidFill>
          <a:ln/>
        </p:spPr>
      </p:sp>
      <p:pic>
        <p:nvPicPr>
          <p:cNvPr id="31" name="Image 7" descr="/home/claude/icons/warning.png">    </p:cNvPr>
          <p:cNvPicPr>
            <a:picLocks noChangeAspect="1"/>
          </p:cNvPicPr>
          <p:nvPr/>
        </p:nvPicPr>
        <p:blipFill>
          <a:blip r:embed="rId8"/>
          <a:stretch>
            <a:fillRect/>
          </a:stretch>
        </p:blipFill>
        <p:spPr>
          <a:xfrm>
            <a:off x="859536" y="5623560"/>
            <a:ext cx="310896" cy="310896"/>
          </a:xfrm>
          <a:prstGeom prst="rect">
            <a:avLst/>
          </a:prstGeom>
        </p:spPr>
      </p:pic>
      <p:sp>
        <p:nvSpPr>
          <p:cNvPr id="32" name="Text 22"/>
          <p:cNvSpPr txBox="1"/>
          <p:nvPr/>
        </p:nvSpPr>
        <p:spPr>
          <a:xfrm>
            <a:off x="1508760" y="5358384"/>
            <a:ext cx="7818120" cy="841248"/>
          </a:xfrm>
          <a:prstGeom prst="rect">
            <a:avLst/>
          </a:prstGeom>
          <a:noFill/>
          <a:ln/>
        </p:spPr>
        <p:txBody>
          <a:bodyPr wrap="square" lIns="0" tIns="0" rIns="0" bIns="0" rtlCol="0" anchor="ctr"/>
          <a:lstStyle/>
          <a:p>
            <a:pPr indent="0" marL="0">
              <a:buNone/>
            </a:pPr>
            <a:r>
              <a:rPr lang="en-US" sz="1400" dirty="0">
                <a:solidFill>
                  <a:srgbClr val="1E2761"/>
                </a:solidFill>
                <a:latin typeface="Calibri" pitchFamily="34" charset="0"/>
                <a:ea typeface="Calibri" pitchFamily="34" charset="-122"/>
                <a:cs typeface="Calibri" pitchFamily="34" charset="-120"/>
              </a:rPr>
              <a:t>Included other unsupported details beyond the documented scope</a:t>
            </a:r>
            <a:endParaRPr lang="en-US" sz="1400" dirty="0"/>
          </a:p>
        </p:txBody>
      </p:sp>
      <p:sp>
        <p:nvSpPr>
          <p:cNvPr id="33" name="Shape 23"/>
          <p:cNvSpPr/>
          <p:nvPr/>
        </p:nvSpPr>
        <p:spPr>
          <a:xfrm>
            <a:off x="9464040" y="5559552"/>
            <a:ext cx="1783080" cy="438912"/>
          </a:xfrm>
          <a:prstGeom prst="roundRect">
            <a:avLst>
              <a:gd name="adj" fmla="val 50000"/>
            </a:avLst>
          </a:prstGeom>
          <a:solidFill>
            <a:srgbClr val="1E7A5A"/>
          </a:solidFill>
          <a:ln/>
        </p:spPr>
      </p:sp>
      <p:pic>
        <p:nvPicPr>
          <p:cNvPr id="34" name="Image 8" descr="/home/claude/icons/check.png">    </p:cNvPr>
          <p:cNvPicPr>
            <a:picLocks noChangeAspect="1"/>
          </p:cNvPicPr>
          <p:nvPr/>
        </p:nvPicPr>
        <p:blipFill>
          <a:blip r:embed="rId9"/>
          <a:stretch>
            <a:fillRect/>
          </a:stretch>
        </p:blipFill>
        <p:spPr>
          <a:xfrm>
            <a:off x="9601200" y="5623560"/>
            <a:ext cx="310896" cy="310896"/>
          </a:xfrm>
          <a:prstGeom prst="rect">
            <a:avLst/>
          </a:prstGeom>
        </p:spPr>
      </p:pic>
      <p:sp>
        <p:nvSpPr>
          <p:cNvPr id="35" name="Text 24"/>
          <p:cNvSpPr txBox="1"/>
          <p:nvPr/>
        </p:nvSpPr>
        <p:spPr>
          <a:xfrm>
            <a:off x="9930384" y="5559552"/>
            <a:ext cx="1234440" cy="43891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Resolved</a:t>
            </a:r>
            <a:endParaRPr lang="en-US" sz="1200" dirty="0"/>
          </a:p>
        </p:txBody>
      </p:sp>
      <p:sp>
        <p:nvSpPr>
          <p:cNvPr id="36" name="Text 25"/>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C"/>
                </a:solidFill>
                <a:latin typeface="Calibri" pitchFamily="34" charset="0"/>
                <a:ea typeface="Calibri" pitchFamily="34" charset="-122"/>
                <a:cs typeface="Calibri" pitchFamily="34" charset="-120"/>
              </a:rPr>
              <a:t>Erasmus Internship Progress — Sıla Özcan</a:t>
            </a:r>
            <a:endParaRPr lang="en-US" sz="900" dirty="0"/>
          </a:p>
        </p:txBody>
      </p:sp>
      <p:sp>
        <p:nvSpPr>
          <p:cNvPr id="37" name="Text 26"/>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56032"/>
            <a:ext cx="11091672" cy="274320"/>
          </a:xfrm>
          <a:prstGeom prst="rect">
            <a:avLst/>
          </a:prstGeom>
          <a:noFill/>
          <a:ln/>
        </p:spPr>
        <p:txBody>
          <a:bodyPr wrap="square" lIns="0" tIns="0" rIns="0" bIns="0" rtlCol="0" anchor="ctr"/>
          <a:lstStyle/>
          <a:p>
            <a:pPr algn="l" indent="0" marL="0">
              <a:buNone/>
            </a:pPr>
            <a:r>
              <a:rPr lang="en-US" sz="1200" b="1" spc="200" kern="0" dirty="0">
                <a:solidFill>
                  <a:srgbClr val="F2A65A"/>
                </a:solidFill>
                <a:latin typeface="Calibri" pitchFamily="34" charset="0"/>
                <a:ea typeface="Calibri" pitchFamily="34" charset="-122"/>
                <a:cs typeface="Calibri" pitchFamily="34" charset="-120"/>
              </a:rPr>
              <a:t>MY CONTRIBUTION</a:t>
            </a:r>
            <a:endParaRPr lang="en-US" sz="1200" dirty="0"/>
          </a:p>
        </p:txBody>
      </p:sp>
      <p:sp>
        <p:nvSpPr>
          <p:cNvPr id="3" name="Text 1"/>
          <p:cNvSpPr txBox="1"/>
          <p:nvPr/>
        </p:nvSpPr>
        <p:spPr>
          <a:xfrm>
            <a:off x="548640" y="457200"/>
            <a:ext cx="11091672" cy="73152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Generator Improvements Implemented</a:t>
            </a:r>
            <a:endParaRPr lang="en-US" sz="3000" dirty="0"/>
          </a:p>
        </p:txBody>
      </p:sp>
      <p:sp>
        <p:nvSpPr>
          <p:cNvPr id="4" name="Shape 2"/>
          <p:cNvSpPr/>
          <p:nvPr/>
        </p:nvSpPr>
        <p:spPr>
          <a:xfrm>
            <a:off x="548640" y="1600200"/>
            <a:ext cx="5349240" cy="1783080"/>
          </a:xfrm>
          <a:prstGeom prst="roundRect">
            <a:avLst>
              <a:gd name="adj" fmla="val 4615"/>
            </a:avLst>
          </a:prstGeom>
          <a:solidFill>
            <a:srgbClr val="FFFFFF"/>
          </a:solidFill>
          <a:ln w="15875">
            <a:solidFill>
              <a:srgbClr val="CADCFC"/>
            </a:solidFill>
            <a:prstDash val="solid"/>
          </a:ln>
          <a:effectLst>
            <a:outerShdw sx="100000" sy="100000" kx="0" ky="0" algn="bl" rotWithShape="0" blurRad="76200" dist="25400" dir="5400000">
              <a:srgbClr val="1E2761">
                <a:alpha val="10000"/>
              </a:srgbClr>
            </a:outerShdw>
          </a:effectLst>
        </p:spPr>
      </p:sp>
      <p:sp>
        <p:nvSpPr>
          <p:cNvPr id="5" name="Shape 3"/>
          <p:cNvSpPr/>
          <p:nvPr/>
        </p:nvSpPr>
        <p:spPr>
          <a:xfrm>
            <a:off x="777240" y="1828800"/>
            <a:ext cx="640080" cy="640080"/>
          </a:xfrm>
          <a:prstGeom prst="ellipse">
            <a:avLst/>
          </a:prstGeom>
          <a:solidFill>
            <a:srgbClr val="1E2761"/>
          </a:solidFill>
          <a:ln/>
        </p:spPr>
      </p:sp>
      <p:pic>
        <p:nvPicPr>
          <p:cNvPr id="6" name="Image 0" descr="/home/claude/icons/listcheck.png">    </p:cNvPr>
          <p:cNvPicPr>
            <a:picLocks noChangeAspect="1"/>
          </p:cNvPicPr>
          <p:nvPr/>
        </p:nvPicPr>
        <p:blipFill>
          <a:blip r:embed="rId1"/>
          <a:stretch>
            <a:fillRect/>
          </a:stretch>
        </p:blipFill>
        <p:spPr>
          <a:xfrm>
            <a:off x="923544" y="1975104"/>
            <a:ext cx="347472" cy="347472"/>
          </a:xfrm>
          <a:prstGeom prst="rect">
            <a:avLst/>
          </a:prstGeom>
        </p:spPr>
      </p:pic>
      <p:sp>
        <p:nvSpPr>
          <p:cNvPr id="7" name="Text 4"/>
          <p:cNvSpPr txBox="1"/>
          <p:nvPr/>
        </p:nvSpPr>
        <p:spPr>
          <a:xfrm>
            <a:off x="1554480" y="1783080"/>
            <a:ext cx="4160520" cy="45720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Expanded Validation Scope</a:t>
            </a:r>
            <a:endParaRPr lang="en-US" sz="1500" dirty="0"/>
          </a:p>
        </p:txBody>
      </p:sp>
      <p:sp>
        <p:nvSpPr>
          <p:cNvPr id="8" name="Text 5"/>
          <p:cNvSpPr txBox="1"/>
          <p:nvPr/>
        </p:nvSpPr>
        <p:spPr>
          <a:xfrm>
            <a:off x="1554480" y="2258568"/>
            <a:ext cx="4160520" cy="1005840"/>
          </a:xfrm>
          <a:prstGeom prst="rect">
            <a:avLst/>
          </a:prstGeom>
          <a:noFill/>
          <a:ln/>
        </p:spPr>
        <p:txBody>
          <a:bodyPr wrap="square" lIns="0" tIns="0" rIns="0" bIns="0" rtlCol="0" anchor="t"/>
          <a:lstStyle/>
          <a:p>
            <a:pPr indent="0" marL="0">
              <a:buNone/>
            </a:pPr>
            <a:r>
              <a:rPr lang="en-US" sz="1200" dirty="0">
                <a:solidFill>
                  <a:srgbClr val="5B6B8C"/>
                </a:solidFill>
                <a:latin typeface="Calibri" pitchFamily="34" charset="0"/>
                <a:ea typeface="Calibri" pitchFamily="34" charset="-122"/>
                <a:cs typeface="Calibri" pitchFamily="34" charset="-120"/>
              </a:rPr>
              <a:t>Validation extended beyond the testData field to also cover preconditions, actions, expected results, and postconditions</a:t>
            </a:r>
            <a:endParaRPr lang="en-US" sz="1200" dirty="0"/>
          </a:p>
        </p:txBody>
      </p:sp>
      <p:sp>
        <p:nvSpPr>
          <p:cNvPr id="9" name="Shape 6"/>
          <p:cNvSpPr/>
          <p:nvPr/>
        </p:nvSpPr>
        <p:spPr>
          <a:xfrm>
            <a:off x="6263640" y="1600200"/>
            <a:ext cx="5349240" cy="1783080"/>
          </a:xfrm>
          <a:prstGeom prst="roundRect">
            <a:avLst>
              <a:gd name="adj" fmla="val 4615"/>
            </a:avLst>
          </a:prstGeom>
          <a:solidFill>
            <a:srgbClr val="FFFFFF"/>
          </a:solidFill>
          <a:ln w="15875">
            <a:solidFill>
              <a:srgbClr val="CADCFC"/>
            </a:solidFill>
            <a:prstDash val="solid"/>
          </a:ln>
          <a:effectLst>
            <a:outerShdw sx="100000" sy="100000" kx="0" ky="0" algn="bl" rotWithShape="0" blurRad="76200" dist="25400" dir="5400000">
              <a:srgbClr val="1E2761">
                <a:alpha val="10000"/>
              </a:srgbClr>
            </a:outerShdw>
          </a:effectLst>
        </p:spPr>
      </p:sp>
      <p:sp>
        <p:nvSpPr>
          <p:cNvPr id="10" name="Shape 7"/>
          <p:cNvSpPr/>
          <p:nvPr/>
        </p:nvSpPr>
        <p:spPr>
          <a:xfrm>
            <a:off x="6492240" y="1828800"/>
            <a:ext cx="640080" cy="640080"/>
          </a:xfrm>
          <a:prstGeom prst="ellipse">
            <a:avLst/>
          </a:prstGeom>
          <a:solidFill>
            <a:srgbClr val="1E2761"/>
          </a:solidFill>
          <a:ln/>
        </p:spPr>
      </p:sp>
      <p:pic>
        <p:nvPicPr>
          <p:cNvPr id="11" name="Image 1" descr="/home/claude/icons/circleX.png">    </p:cNvPr>
          <p:cNvPicPr>
            <a:picLocks noChangeAspect="1"/>
          </p:cNvPicPr>
          <p:nvPr/>
        </p:nvPicPr>
        <p:blipFill>
          <a:blip r:embed="rId2"/>
          <a:stretch>
            <a:fillRect/>
          </a:stretch>
        </p:blipFill>
        <p:spPr>
          <a:xfrm>
            <a:off x="6638544" y="1975104"/>
            <a:ext cx="347472" cy="347472"/>
          </a:xfrm>
          <a:prstGeom prst="rect">
            <a:avLst/>
          </a:prstGeom>
        </p:spPr>
      </p:pic>
      <p:sp>
        <p:nvSpPr>
          <p:cNvPr id="12" name="Text 8"/>
          <p:cNvSpPr txBox="1"/>
          <p:nvPr/>
        </p:nvSpPr>
        <p:spPr>
          <a:xfrm>
            <a:off x="7269480" y="1783080"/>
            <a:ext cx="4160520" cy="45720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Invented-Value Detection</a:t>
            </a:r>
            <a:endParaRPr lang="en-US" sz="1500" dirty="0"/>
          </a:p>
        </p:txBody>
      </p:sp>
      <p:sp>
        <p:nvSpPr>
          <p:cNvPr id="13" name="Text 9"/>
          <p:cNvSpPr txBox="1"/>
          <p:nvPr/>
        </p:nvSpPr>
        <p:spPr>
          <a:xfrm>
            <a:off x="7269480" y="2258568"/>
            <a:ext cx="4160520" cy="1005840"/>
          </a:xfrm>
          <a:prstGeom prst="rect">
            <a:avLst/>
          </a:prstGeom>
          <a:noFill/>
          <a:ln/>
        </p:spPr>
        <p:txBody>
          <a:bodyPr wrap="square" lIns="0" tIns="0" rIns="0" bIns="0" rtlCol="0" anchor="t"/>
          <a:lstStyle/>
          <a:p>
            <a:pPr indent="0" marL="0">
              <a:buNone/>
            </a:pPr>
            <a:r>
              <a:rPr lang="en-US" sz="1200" dirty="0">
                <a:solidFill>
                  <a:srgbClr val="5B6B8C"/>
                </a:solidFill>
                <a:latin typeface="Calibri" pitchFamily="34" charset="0"/>
                <a:ea typeface="Calibri" pitchFamily="34" charset="-122"/>
                <a:cs typeface="Calibri" pitchFamily="34" charset="-120"/>
              </a:rPr>
              <a:t>Added checks that flag literal values in the output that cannot be traced back to the source documents</a:t>
            </a:r>
            <a:endParaRPr lang="en-US" sz="1200" dirty="0"/>
          </a:p>
        </p:txBody>
      </p:sp>
      <p:sp>
        <p:nvSpPr>
          <p:cNvPr id="14" name="Shape 10"/>
          <p:cNvSpPr/>
          <p:nvPr/>
        </p:nvSpPr>
        <p:spPr>
          <a:xfrm>
            <a:off x="548640" y="3703320"/>
            <a:ext cx="5349240" cy="1783080"/>
          </a:xfrm>
          <a:prstGeom prst="roundRect">
            <a:avLst>
              <a:gd name="adj" fmla="val 4615"/>
            </a:avLst>
          </a:prstGeom>
          <a:solidFill>
            <a:srgbClr val="FFFFFF"/>
          </a:solidFill>
          <a:ln w="15875">
            <a:solidFill>
              <a:srgbClr val="CADCFC"/>
            </a:solidFill>
            <a:prstDash val="solid"/>
          </a:ln>
          <a:effectLst>
            <a:outerShdw sx="100000" sy="100000" kx="0" ky="0" algn="bl" rotWithShape="0" blurRad="76200" dist="25400" dir="5400000">
              <a:srgbClr val="1E2761">
                <a:alpha val="10000"/>
              </a:srgbClr>
            </a:outerShdw>
          </a:effectLst>
        </p:spPr>
      </p:sp>
      <p:sp>
        <p:nvSpPr>
          <p:cNvPr id="15" name="Shape 11"/>
          <p:cNvSpPr/>
          <p:nvPr/>
        </p:nvSpPr>
        <p:spPr>
          <a:xfrm>
            <a:off x="777240" y="3931920"/>
            <a:ext cx="640080" cy="640080"/>
          </a:xfrm>
          <a:prstGeom prst="ellipse">
            <a:avLst/>
          </a:prstGeom>
          <a:solidFill>
            <a:srgbClr val="1E2761"/>
          </a:solidFill>
          <a:ln/>
        </p:spPr>
      </p:sp>
      <p:pic>
        <p:nvPicPr>
          <p:cNvPr id="16" name="Image 2" descr="/home/claude/icons/ban.png">    </p:cNvPr>
          <p:cNvPicPr>
            <a:picLocks noChangeAspect="1"/>
          </p:cNvPicPr>
          <p:nvPr/>
        </p:nvPicPr>
        <p:blipFill>
          <a:blip r:embed="rId3"/>
          <a:stretch>
            <a:fillRect/>
          </a:stretch>
        </p:blipFill>
        <p:spPr>
          <a:xfrm>
            <a:off x="923544" y="4078224"/>
            <a:ext cx="347472" cy="347472"/>
          </a:xfrm>
          <a:prstGeom prst="rect">
            <a:avLst/>
          </a:prstGeom>
        </p:spPr>
      </p:pic>
      <p:sp>
        <p:nvSpPr>
          <p:cNvPr id="17" name="Text 12"/>
          <p:cNvSpPr txBox="1"/>
          <p:nvPr/>
        </p:nvSpPr>
        <p:spPr>
          <a:xfrm>
            <a:off x="1554480" y="3886200"/>
            <a:ext cx="4160520" cy="45720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Placeholder Detection</a:t>
            </a:r>
            <a:endParaRPr lang="en-US" sz="1500" dirty="0"/>
          </a:p>
        </p:txBody>
      </p:sp>
      <p:sp>
        <p:nvSpPr>
          <p:cNvPr id="18" name="Text 13"/>
          <p:cNvSpPr txBox="1"/>
          <p:nvPr/>
        </p:nvSpPr>
        <p:spPr>
          <a:xfrm>
            <a:off x="1554480" y="4361688"/>
            <a:ext cx="4160520" cy="1005840"/>
          </a:xfrm>
          <a:prstGeom prst="rect">
            <a:avLst/>
          </a:prstGeom>
          <a:noFill/>
          <a:ln/>
        </p:spPr>
        <p:txBody>
          <a:bodyPr wrap="square" lIns="0" tIns="0" rIns="0" bIns="0" rtlCol="0" anchor="t"/>
          <a:lstStyle/>
          <a:p>
            <a:pPr indent="0" marL="0">
              <a:buNone/>
            </a:pPr>
            <a:r>
              <a:rPr lang="en-US" sz="1200" dirty="0">
                <a:solidFill>
                  <a:srgbClr val="5B6B8C"/>
                </a:solidFill>
                <a:latin typeface="Calibri" pitchFamily="34" charset="0"/>
                <a:ea typeface="Calibri" pitchFamily="34" charset="-122"/>
                <a:cs typeface="Calibri" pitchFamily="34" charset="-120"/>
              </a:rPr>
              <a:t>Added detection of placeholder or filler content left in generated test cases</a:t>
            </a:r>
            <a:endParaRPr lang="en-US" sz="1200" dirty="0"/>
          </a:p>
        </p:txBody>
      </p:sp>
      <p:sp>
        <p:nvSpPr>
          <p:cNvPr id="19" name="Shape 14"/>
          <p:cNvSpPr/>
          <p:nvPr/>
        </p:nvSpPr>
        <p:spPr>
          <a:xfrm>
            <a:off x="6263640" y="3703320"/>
            <a:ext cx="5349240" cy="1783080"/>
          </a:xfrm>
          <a:prstGeom prst="roundRect">
            <a:avLst>
              <a:gd name="adj" fmla="val 4615"/>
            </a:avLst>
          </a:prstGeom>
          <a:solidFill>
            <a:srgbClr val="FFFFFF"/>
          </a:solidFill>
          <a:ln w="15875">
            <a:solidFill>
              <a:srgbClr val="CADCFC"/>
            </a:solidFill>
            <a:prstDash val="solid"/>
          </a:ln>
          <a:effectLst>
            <a:outerShdw sx="100000" sy="100000" kx="0" ky="0" algn="bl" rotWithShape="0" blurRad="76200" dist="25400" dir="5400000">
              <a:srgbClr val="1E2761">
                <a:alpha val="10000"/>
              </a:srgbClr>
            </a:outerShdw>
          </a:effectLst>
        </p:spPr>
      </p:sp>
      <p:sp>
        <p:nvSpPr>
          <p:cNvPr id="20" name="Shape 15"/>
          <p:cNvSpPr/>
          <p:nvPr/>
        </p:nvSpPr>
        <p:spPr>
          <a:xfrm>
            <a:off x="6492240" y="3931920"/>
            <a:ext cx="640080" cy="640080"/>
          </a:xfrm>
          <a:prstGeom prst="ellipse">
            <a:avLst/>
          </a:prstGeom>
          <a:solidFill>
            <a:srgbClr val="1E2761"/>
          </a:solidFill>
          <a:ln/>
        </p:spPr>
      </p:sp>
      <p:pic>
        <p:nvPicPr>
          <p:cNvPr id="21" name="Image 3" descr="/home/claude/icons/tools.png">    </p:cNvPr>
          <p:cNvPicPr>
            <a:picLocks noChangeAspect="1"/>
          </p:cNvPicPr>
          <p:nvPr/>
        </p:nvPicPr>
        <p:blipFill>
          <a:blip r:embed="rId4"/>
          <a:stretch>
            <a:fillRect/>
          </a:stretch>
        </p:blipFill>
        <p:spPr>
          <a:xfrm>
            <a:off x="6638544" y="4078224"/>
            <a:ext cx="347472" cy="347472"/>
          </a:xfrm>
          <a:prstGeom prst="rect">
            <a:avLst/>
          </a:prstGeom>
        </p:spPr>
      </p:pic>
      <p:sp>
        <p:nvSpPr>
          <p:cNvPr id="22" name="Text 16"/>
          <p:cNvSpPr txBox="1"/>
          <p:nvPr/>
        </p:nvSpPr>
        <p:spPr>
          <a:xfrm>
            <a:off x="7269480" y="3886200"/>
            <a:ext cx="4160520" cy="45720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Improved Repair Prompts</a:t>
            </a:r>
            <a:endParaRPr lang="en-US" sz="1500" dirty="0"/>
          </a:p>
        </p:txBody>
      </p:sp>
      <p:sp>
        <p:nvSpPr>
          <p:cNvPr id="23" name="Text 17"/>
          <p:cNvSpPr txBox="1"/>
          <p:nvPr/>
        </p:nvSpPr>
        <p:spPr>
          <a:xfrm>
            <a:off x="7269480" y="4361688"/>
            <a:ext cx="4160520" cy="1005840"/>
          </a:xfrm>
          <a:prstGeom prst="rect">
            <a:avLst/>
          </a:prstGeom>
          <a:noFill/>
          <a:ln/>
        </p:spPr>
        <p:txBody>
          <a:bodyPr wrap="square" lIns="0" tIns="0" rIns="0" bIns="0" rtlCol="0" anchor="t"/>
          <a:lstStyle/>
          <a:p>
            <a:pPr indent="0" marL="0">
              <a:buNone/>
            </a:pPr>
            <a:r>
              <a:rPr lang="en-US" sz="1200" dirty="0">
                <a:solidFill>
                  <a:srgbClr val="5B6B8C"/>
                </a:solidFill>
                <a:latin typeface="Calibri" pitchFamily="34" charset="0"/>
                <a:ea typeface="Calibri" pitchFamily="34" charset="-122"/>
                <a:cs typeface="Calibri" pitchFamily="34" charset="-120"/>
              </a:rPr>
              <a:t>Refined the automated repair step so flagged issues can be corrected without a full regeneration</a:t>
            </a:r>
            <a:endParaRPr lang="en-US" sz="1200" dirty="0"/>
          </a:p>
        </p:txBody>
      </p:sp>
      <p:sp>
        <p:nvSpPr>
          <p:cNvPr id="24" name="Text 18"/>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C"/>
                </a:solidFill>
                <a:latin typeface="Calibri" pitchFamily="34" charset="0"/>
                <a:ea typeface="Calibri" pitchFamily="34" charset="-122"/>
                <a:cs typeface="Calibri" pitchFamily="34" charset="-120"/>
              </a:rPr>
              <a:t>Erasmus Internship Progress — Sıla Özcan</a:t>
            </a:r>
            <a:endParaRPr lang="en-US" sz="900" dirty="0"/>
          </a:p>
        </p:txBody>
      </p:sp>
      <p:sp>
        <p:nvSpPr>
          <p:cNvPr id="25" name="Text 19"/>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56032"/>
            <a:ext cx="11091672" cy="274320"/>
          </a:xfrm>
          <a:prstGeom prst="rect">
            <a:avLst/>
          </a:prstGeom>
          <a:noFill/>
          <a:ln/>
        </p:spPr>
        <p:txBody>
          <a:bodyPr wrap="square" lIns="0" tIns="0" rIns="0" bIns="0" rtlCol="0" anchor="ctr"/>
          <a:lstStyle/>
          <a:p>
            <a:pPr algn="l" indent="0" marL="0">
              <a:buNone/>
            </a:pPr>
            <a:r>
              <a:rPr lang="en-US" sz="1200" b="1" spc="200" kern="0" dirty="0">
                <a:solidFill>
                  <a:srgbClr val="F2A65A"/>
                </a:solidFill>
                <a:latin typeface="Calibri" pitchFamily="34" charset="0"/>
                <a:ea typeface="Calibri" pitchFamily="34" charset="-122"/>
                <a:cs typeface="Calibri" pitchFamily="34" charset="-120"/>
              </a:rPr>
              <a:t>MY CONTRIBUTION</a:t>
            </a:r>
            <a:endParaRPr lang="en-US" sz="1200" dirty="0"/>
          </a:p>
        </p:txBody>
      </p:sp>
      <p:sp>
        <p:nvSpPr>
          <p:cNvPr id="3" name="Text 1"/>
          <p:cNvSpPr txBox="1"/>
          <p:nvPr/>
        </p:nvSpPr>
        <p:spPr>
          <a:xfrm>
            <a:off x="548640" y="457200"/>
            <a:ext cx="11091672" cy="73152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Focused Batching &amp; Source-Grounding Validation</a:t>
            </a:r>
            <a:endParaRPr lang="en-US" sz="3000" dirty="0"/>
          </a:p>
        </p:txBody>
      </p:sp>
      <p:sp>
        <p:nvSpPr>
          <p:cNvPr id="4" name="Text 2"/>
          <p:cNvSpPr txBox="1"/>
          <p:nvPr/>
        </p:nvSpPr>
        <p:spPr>
          <a:xfrm>
            <a:off x="548640" y="1600200"/>
            <a:ext cx="5212080" cy="4206240"/>
          </a:xfrm>
          <a:prstGeom prst="rect">
            <a:avLst/>
          </a:prstGeom>
          <a:noFill/>
          <a:ln/>
        </p:spPr>
        <p:txBody>
          <a:bodyPr wrap="square" lIns="0" tIns="0" rIns="0" bIns="0" rtlCol="0" anchor="t"/>
          <a:lstStyle/>
          <a:p>
            <a:pPr marL="228600" indent="-228600">
              <a:spcAft>
                <a:spcPts val="1600"/>
              </a:spcAft>
              <a:buSzPct val="100000"/>
              <a:buChar char="•"/>
            </a:pPr>
            <a:r>
              <a:rPr lang="en-US" sz="1450" dirty="0">
                <a:solidFill>
                  <a:srgbClr val="1E2761"/>
                </a:solidFill>
                <a:latin typeface="Calibri" pitchFamily="34" charset="0"/>
                <a:ea typeface="Calibri" pitchFamily="34" charset="-122"/>
                <a:cs typeface="Calibri" pitchFamily="34" charset="-120"/>
              </a:rPr>
              <a:t>Reduced batch scope per generation call to keep the model focused on a smaller, more relevant slice of source material</a:t>
            </a:r>
            <a:endParaRPr lang="en-US" sz="1450" dirty="0"/>
          </a:p>
          <a:p>
            <a:pPr marL="228600" indent="-228600">
              <a:spcAft>
                <a:spcPts val="1600"/>
              </a:spcAft>
              <a:buSzPct val="100000"/>
              <a:buChar char="•"/>
            </a:pPr>
            <a:r>
              <a:rPr lang="en-US" sz="1450" dirty="0">
                <a:solidFill>
                  <a:srgbClr val="1E2761"/>
                </a:solidFill>
                <a:latin typeface="Calibri" pitchFamily="34" charset="0"/>
                <a:ea typeface="Calibri" pitchFamily="34" charset="-122"/>
                <a:cs typeface="Calibri" pitchFamily="34" charset="-120"/>
              </a:rPr>
              <a:t>Each generated test case is checked against the corresponding requirement and architecture text</a:t>
            </a:r>
            <a:endParaRPr lang="en-US" sz="1450" dirty="0"/>
          </a:p>
          <a:p>
            <a:pPr marL="228600" indent="-228600">
              <a:spcAft>
                <a:spcPts val="1600"/>
              </a:spcAft>
              <a:buSzPct val="100000"/>
              <a:buChar char="•"/>
            </a:pPr>
            <a:r>
              <a:rPr lang="en-US" sz="1450" dirty="0">
                <a:solidFill>
                  <a:srgbClr val="1E2761"/>
                </a:solidFill>
                <a:latin typeface="Calibri" pitchFamily="34" charset="0"/>
                <a:ea typeface="Calibri" pitchFamily="34" charset="-122"/>
                <a:cs typeface="Calibri" pitchFamily="34" charset="-120"/>
              </a:rPr>
              <a:t>Source-grounding validation flags any content that cannot be traced back to the input documents</a:t>
            </a:r>
            <a:endParaRPr lang="en-US" sz="1450" dirty="0"/>
          </a:p>
          <a:p>
            <a:pPr marL="228600" indent="-228600">
              <a:spcAft>
                <a:spcPts val="1600"/>
              </a:spcAft>
              <a:buSzPct val="100000"/>
              <a:buChar char="•"/>
            </a:pPr>
            <a:r>
              <a:rPr lang="en-US" sz="1450" dirty="0">
                <a:solidFill>
                  <a:srgbClr val="1E2761"/>
                </a:solidFill>
                <a:latin typeface="Calibri" pitchFamily="34" charset="0"/>
                <a:ea typeface="Calibri" pitchFamily="34" charset="-122"/>
                <a:cs typeface="Calibri" pitchFamily="34" charset="-120"/>
              </a:rPr>
              <a:t>The repair loop re-prompts only the flagged sections, rather than the entire test case</a:t>
            </a:r>
            <a:endParaRPr lang="en-US" sz="1450" dirty="0"/>
          </a:p>
        </p:txBody>
      </p:sp>
      <p:sp>
        <p:nvSpPr>
          <p:cNvPr id="5" name="Shape 3"/>
          <p:cNvSpPr/>
          <p:nvPr/>
        </p:nvSpPr>
        <p:spPr>
          <a:xfrm>
            <a:off x="6126480" y="1783080"/>
            <a:ext cx="5486400" cy="914400"/>
          </a:xfrm>
          <a:prstGeom prst="roundRect">
            <a:avLst>
              <a:gd name="adj" fmla="val 8000"/>
            </a:avLst>
          </a:prstGeom>
          <a:solidFill>
            <a:srgbClr val="FFFFFF"/>
          </a:solidFill>
          <a:ln w="15875">
            <a:solidFill>
              <a:srgbClr val="CADCFC"/>
            </a:solidFill>
            <a:prstDash val="solid"/>
          </a:ln>
        </p:spPr>
      </p:sp>
      <p:sp>
        <p:nvSpPr>
          <p:cNvPr id="6" name="Shape 4"/>
          <p:cNvSpPr/>
          <p:nvPr/>
        </p:nvSpPr>
        <p:spPr>
          <a:xfrm>
            <a:off x="6291072" y="1920240"/>
            <a:ext cx="640080" cy="640080"/>
          </a:xfrm>
          <a:prstGeom prst="ellipse">
            <a:avLst/>
          </a:prstGeom>
          <a:solidFill>
            <a:srgbClr val="1E2761"/>
          </a:solidFill>
          <a:ln/>
        </p:spPr>
      </p:sp>
      <p:pic>
        <p:nvPicPr>
          <p:cNvPr id="7" name="Image 0" descr="/home/claude/icons/listcheck.png">    </p:cNvPr>
          <p:cNvPicPr>
            <a:picLocks noChangeAspect="1"/>
          </p:cNvPicPr>
          <p:nvPr/>
        </p:nvPicPr>
        <p:blipFill>
          <a:blip r:embed="rId1"/>
          <a:stretch>
            <a:fillRect/>
          </a:stretch>
        </p:blipFill>
        <p:spPr>
          <a:xfrm>
            <a:off x="6437376" y="2066544"/>
            <a:ext cx="347472" cy="347472"/>
          </a:xfrm>
          <a:prstGeom prst="rect">
            <a:avLst/>
          </a:prstGeom>
        </p:spPr>
      </p:pic>
      <p:sp>
        <p:nvSpPr>
          <p:cNvPr id="8" name="Text 5"/>
          <p:cNvSpPr txBox="1"/>
          <p:nvPr/>
        </p:nvSpPr>
        <p:spPr>
          <a:xfrm>
            <a:off x="7086600" y="1783080"/>
            <a:ext cx="4389120" cy="91440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Requirement /</a:t>
            </a:r>
            <a:endParaRPr lang="en-US" sz="1350" dirty="0"/>
          </a:p>
          <a:p>
            <a:pPr indent="0" marL="0">
              <a:buNone/>
            </a:pPr>
            <a:r>
              <a:rPr lang="en-US" sz="1350" b="1" dirty="0">
                <a:solidFill>
                  <a:srgbClr val="1E2761"/>
                </a:solidFill>
                <a:latin typeface="Calibri" pitchFamily="34" charset="0"/>
                <a:ea typeface="Calibri" pitchFamily="34" charset="-122"/>
                <a:cs typeface="Calibri" pitchFamily="34" charset="-120"/>
              </a:rPr>
              <a:t>Architecture Chunk</a:t>
            </a:r>
            <a:endParaRPr lang="en-US" sz="1350" dirty="0"/>
          </a:p>
        </p:txBody>
      </p:sp>
      <p:pic>
        <p:nvPicPr>
          <p:cNvPr id="9" name="Image 1" descr="/home/claude/icons/arrow.png">    </p:cNvPr>
          <p:cNvPicPr>
            <a:picLocks noChangeAspect="1"/>
          </p:cNvPicPr>
          <p:nvPr/>
        </p:nvPicPr>
        <p:blipFill>
          <a:blip r:embed="rId2"/>
          <a:stretch>
            <a:fillRect/>
          </a:stretch>
        </p:blipFill>
        <p:spPr>
          <a:xfrm>
            <a:off x="8723376" y="2715768"/>
            <a:ext cx="292608" cy="292608"/>
          </a:xfrm>
          <a:prstGeom prst="rect">
            <a:avLst/>
          </a:prstGeom>
        </p:spPr>
      </p:pic>
      <p:sp>
        <p:nvSpPr>
          <p:cNvPr id="10" name="Shape 6"/>
          <p:cNvSpPr/>
          <p:nvPr/>
        </p:nvSpPr>
        <p:spPr>
          <a:xfrm>
            <a:off x="6126480" y="2990088"/>
            <a:ext cx="5486400" cy="914400"/>
          </a:xfrm>
          <a:prstGeom prst="roundRect">
            <a:avLst>
              <a:gd name="adj" fmla="val 8000"/>
            </a:avLst>
          </a:prstGeom>
          <a:solidFill>
            <a:srgbClr val="FFFFFF"/>
          </a:solidFill>
          <a:ln w="15875">
            <a:solidFill>
              <a:srgbClr val="CADCFC"/>
            </a:solidFill>
            <a:prstDash val="solid"/>
          </a:ln>
        </p:spPr>
      </p:sp>
      <p:sp>
        <p:nvSpPr>
          <p:cNvPr id="11" name="Shape 7"/>
          <p:cNvSpPr/>
          <p:nvPr/>
        </p:nvSpPr>
        <p:spPr>
          <a:xfrm>
            <a:off x="6291072" y="3127248"/>
            <a:ext cx="640080" cy="640080"/>
          </a:xfrm>
          <a:prstGeom prst="ellipse">
            <a:avLst/>
          </a:prstGeom>
          <a:solidFill>
            <a:srgbClr val="1E2761"/>
          </a:solidFill>
          <a:ln/>
        </p:spPr>
      </p:sp>
      <p:pic>
        <p:nvPicPr>
          <p:cNvPr id="12" name="Image 2" descr="/home/claude/icons/layers.png">    </p:cNvPr>
          <p:cNvPicPr>
            <a:picLocks noChangeAspect="1"/>
          </p:cNvPicPr>
          <p:nvPr/>
        </p:nvPicPr>
        <p:blipFill>
          <a:blip r:embed="rId3"/>
          <a:stretch>
            <a:fillRect/>
          </a:stretch>
        </p:blipFill>
        <p:spPr>
          <a:xfrm>
            <a:off x="6437376" y="3273552"/>
            <a:ext cx="347472" cy="347472"/>
          </a:xfrm>
          <a:prstGeom prst="rect">
            <a:avLst/>
          </a:prstGeom>
        </p:spPr>
      </p:pic>
      <p:sp>
        <p:nvSpPr>
          <p:cNvPr id="13" name="Text 8"/>
          <p:cNvSpPr txBox="1"/>
          <p:nvPr/>
        </p:nvSpPr>
        <p:spPr>
          <a:xfrm>
            <a:off x="7086600" y="2990088"/>
            <a:ext cx="4389120" cy="91440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Focused Batch</a:t>
            </a:r>
            <a:endParaRPr lang="en-US" sz="1350" dirty="0"/>
          </a:p>
          <a:p>
            <a:pPr indent="0" marL="0">
              <a:buNone/>
            </a:pPr>
            <a:r>
              <a:rPr lang="en-US" sz="1350" b="1" dirty="0">
                <a:solidFill>
                  <a:srgbClr val="1E2761"/>
                </a:solidFill>
                <a:latin typeface="Calibri" pitchFamily="34" charset="0"/>
                <a:ea typeface="Calibri" pitchFamily="34" charset="-122"/>
                <a:cs typeface="Calibri" pitchFamily="34" charset="-120"/>
              </a:rPr>
              <a:t>Generation</a:t>
            </a:r>
            <a:endParaRPr lang="en-US" sz="1350" dirty="0"/>
          </a:p>
        </p:txBody>
      </p:sp>
      <p:pic>
        <p:nvPicPr>
          <p:cNvPr id="14" name="Image 3" descr="/home/claude/icons/arrow.png">    </p:cNvPr>
          <p:cNvPicPr>
            <a:picLocks noChangeAspect="1"/>
          </p:cNvPicPr>
          <p:nvPr/>
        </p:nvPicPr>
        <p:blipFill>
          <a:blip r:embed="rId4"/>
          <a:stretch>
            <a:fillRect/>
          </a:stretch>
        </p:blipFill>
        <p:spPr>
          <a:xfrm>
            <a:off x="8723376" y="3922776"/>
            <a:ext cx="292608" cy="292608"/>
          </a:xfrm>
          <a:prstGeom prst="rect">
            <a:avLst/>
          </a:prstGeom>
        </p:spPr>
      </p:pic>
      <p:sp>
        <p:nvSpPr>
          <p:cNvPr id="15" name="Shape 9"/>
          <p:cNvSpPr/>
          <p:nvPr/>
        </p:nvSpPr>
        <p:spPr>
          <a:xfrm>
            <a:off x="6126480" y="4197096"/>
            <a:ext cx="5486400" cy="914400"/>
          </a:xfrm>
          <a:prstGeom prst="roundRect">
            <a:avLst>
              <a:gd name="adj" fmla="val 8000"/>
            </a:avLst>
          </a:prstGeom>
          <a:solidFill>
            <a:srgbClr val="FFFFFF"/>
          </a:solidFill>
          <a:ln w="15875">
            <a:solidFill>
              <a:srgbClr val="CADCFC"/>
            </a:solidFill>
            <a:prstDash val="solid"/>
          </a:ln>
        </p:spPr>
      </p:sp>
      <p:sp>
        <p:nvSpPr>
          <p:cNvPr id="16" name="Shape 10"/>
          <p:cNvSpPr/>
          <p:nvPr/>
        </p:nvSpPr>
        <p:spPr>
          <a:xfrm>
            <a:off x="6291072" y="4334256"/>
            <a:ext cx="640080" cy="640080"/>
          </a:xfrm>
          <a:prstGeom prst="ellipse">
            <a:avLst/>
          </a:prstGeom>
          <a:solidFill>
            <a:srgbClr val="1E2761"/>
          </a:solidFill>
          <a:ln/>
        </p:spPr>
      </p:sp>
      <p:pic>
        <p:nvPicPr>
          <p:cNvPr id="17" name="Image 4" descr="/home/claude/icons/check.png">    </p:cNvPr>
          <p:cNvPicPr>
            <a:picLocks noChangeAspect="1"/>
          </p:cNvPicPr>
          <p:nvPr/>
        </p:nvPicPr>
        <p:blipFill>
          <a:blip r:embed="rId5"/>
          <a:stretch>
            <a:fillRect/>
          </a:stretch>
        </p:blipFill>
        <p:spPr>
          <a:xfrm>
            <a:off x="6437376" y="4480560"/>
            <a:ext cx="347472" cy="347472"/>
          </a:xfrm>
          <a:prstGeom prst="rect">
            <a:avLst/>
          </a:prstGeom>
        </p:spPr>
      </p:pic>
      <p:sp>
        <p:nvSpPr>
          <p:cNvPr id="18" name="Text 11"/>
          <p:cNvSpPr txBox="1"/>
          <p:nvPr/>
        </p:nvSpPr>
        <p:spPr>
          <a:xfrm>
            <a:off x="7086600" y="4197096"/>
            <a:ext cx="4389120" cy="91440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Source-Grounding</a:t>
            </a:r>
            <a:endParaRPr lang="en-US" sz="1350" dirty="0"/>
          </a:p>
          <a:p>
            <a:pPr indent="0" marL="0">
              <a:buNone/>
            </a:pPr>
            <a:r>
              <a:rPr lang="en-US" sz="1350" b="1" dirty="0">
                <a:solidFill>
                  <a:srgbClr val="1E2761"/>
                </a:solidFill>
                <a:latin typeface="Calibri" pitchFamily="34" charset="0"/>
                <a:ea typeface="Calibri" pitchFamily="34" charset="-122"/>
                <a:cs typeface="Calibri" pitchFamily="34" charset="-120"/>
              </a:rPr>
              <a:t>Validation</a:t>
            </a:r>
            <a:endParaRPr lang="en-US" sz="1350" dirty="0"/>
          </a:p>
        </p:txBody>
      </p:sp>
      <p:sp>
        <p:nvSpPr>
          <p:cNvPr id="19" name="Shape 12"/>
          <p:cNvSpPr/>
          <p:nvPr/>
        </p:nvSpPr>
        <p:spPr>
          <a:xfrm>
            <a:off x="6126480" y="5449824"/>
            <a:ext cx="5486400" cy="822960"/>
          </a:xfrm>
          <a:prstGeom prst="roundRect">
            <a:avLst>
              <a:gd name="adj" fmla="val 8889"/>
            </a:avLst>
          </a:prstGeom>
          <a:solidFill>
            <a:srgbClr val="F2A65A"/>
          </a:solidFill>
          <a:ln/>
        </p:spPr>
      </p:sp>
      <p:sp>
        <p:nvSpPr>
          <p:cNvPr id="20" name="Shape 13"/>
          <p:cNvSpPr/>
          <p:nvPr/>
        </p:nvSpPr>
        <p:spPr>
          <a:xfrm>
            <a:off x="6291072" y="5568696"/>
            <a:ext cx="566928" cy="566928"/>
          </a:xfrm>
          <a:prstGeom prst="ellipse">
            <a:avLst/>
          </a:prstGeom>
          <a:solidFill>
            <a:srgbClr val="1E2761"/>
          </a:solidFill>
          <a:ln/>
        </p:spPr>
      </p:sp>
      <p:pic>
        <p:nvPicPr>
          <p:cNvPr id="21" name="Image 5" descr="/home/claude/icons/tools.png">    </p:cNvPr>
          <p:cNvPicPr>
            <a:picLocks noChangeAspect="1"/>
          </p:cNvPicPr>
          <p:nvPr/>
        </p:nvPicPr>
        <p:blipFill>
          <a:blip r:embed="rId6"/>
          <a:stretch>
            <a:fillRect/>
          </a:stretch>
        </p:blipFill>
        <p:spPr>
          <a:xfrm>
            <a:off x="6437376" y="5715000"/>
            <a:ext cx="274320" cy="274320"/>
          </a:xfrm>
          <a:prstGeom prst="rect">
            <a:avLst/>
          </a:prstGeom>
        </p:spPr>
      </p:pic>
      <p:sp>
        <p:nvSpPr>
          <p:cNvPr id="22" name="Text 14"/>
          <p:cNvSpPr txBox="1"/>
          <p:nvPr/>
        </p:nvSpPr>
        <p:spPr>
          <a:xfrm>
            <a:off x="6995160" y="5449824"/>
            <a:ext cx="4480560" cy="82296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Flagged sections repaired,</a:t>
            </a:r>
            <a:endParaRPr lang="en-US" sz="1250" dirty="0"/>
          </a:p>
          <a:p>
            <a:pPr indent="0" marL="0">
              <a:buNone/>
            </a:pPr>
            <a:r>
              <a:rPr lang="en-US" sz="1250" b="1" dirty="0">
                <a:solidFill>
                  <a:srgbClr val="1E2761"/>
                </a:solidFill>
                <a:latin typeface="Calibri" pitchFamily="34" charset="0"/>
                <a:ea typeface="Calibri" pitchFamily="34" charset="-122"/>
                <a:cs typeface="Calibri" pitchFamily="34" charset="-120"/>
              </a:rPr>
              <a:t>not the full test case</a:t>
            </a:r>
            <a:endParaRPr lang="en-US" sz="1250" dirty="0"/>
          </a:p>
        </p:txBody>
      </p:sp>
      <p:sp>
        <p:nvSpPr>
          <p:cNvPr id="23" name="Text 15"/>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C"/>
                </a:solidFill>
                <a:latin typeface="Calibri" pitchFamily="34" charset="0"/>
                <a:ea typeface="Calibri" pitchFamily="34" charset="-122"/>
                <a:cs typeface="Calibri" pitchFamily="34" charset="-120"/>
              </a:rPr>
              <a:t>Erasmus Internship Progress — Sıla Özcan</a:t>
            </a:r>
            <a:endParaRPr lang="en-US" sz="900" dirty="0"/>
          </a:p>
        </p:txBody>
      </p:sp>
      <p:sp>
        <p:nvSpPr>
          <p:cNvPr id="24" name="Text 16"/>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56032"/>
            <a:ext cx="11091672" cy="274320"/>
          </a:xfrm>
          <a:prstGeom prst="rect">
            <a:avLst/>
          </a:prstGeom>
          <a:noFill/>
          <a:ln/>
        </p:spPr>
        <p:txBody>
          <a:bodyPr wrap="square" lIns="0" tIns="0" rIns="0" bIns="0" rtlCol="0" anchor="ctr"/>
          <a:lstStyle/>
          <a:p>
            <a:pPr algn="l" indent="0" marL="0">
              <a:buNone/>
            </a:pPr>
            <a:r>
              <a:rPr lang="en-US" sz="1200" b="1" spc="200" kern="0" dirty="0">
                <a:solidFill>
                  <a:srgbClr val="F2A65A"/>
                </a:solidFill>
                <a:latin typeface="Calibri" pitchFamily="34" charset="0"/>
                <a:ea typeface="Calibri" pitchFamily="34" charset="-122"/>
                <a:cs typeface="Calibri" pitchFamily="34" charset="-120"/>
              </a:rPr>
              <a:t>REPRESENTATIVE EXAMPLE</a:t>
            </a:r>
            <a:endParaRPr lang="en-US" sz="1200" dirty="0"/>
          </a:p>
        </p:txBody>
      </p:sp>
      <p:sp>
        <p:nvSpPr>
          <p:cNvPr id="3" name="Text 1"/>
          <p:cNvSpPr txBox="1"/>
          <p:nvPr/>
        </p:nvSpPr>
        <p:spPr>
          <a:xfrm>
            <a:off x="548640" y="457200"/>
            <a:ext cx="11091672" cy="73152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Example: Quality Improvement in Practice</a:t>
            </a:r>
            <a:endParaRPr lang="en-US" sz="3000" dirty="0"/>
          </a:p>
        </p:txBody>
      </p:sp>
      <p:sp>
        <p:nvSpPr>
          <p:cNvPr id="4" name="Text 2"/>
          <p:cNvSpPr txBox="1"/>
          <p:nvPr/>
        </p:nvSpPr>
        <p:spPr>
          <a:xfrm>
            <a:off x="548640" y="1371600"/>
            <a:ext cx="11064240" cy="365760"/>
          </a:xfrm>
          <a:prstGeom prst="rect">
            <a:avLst/>
          </a:prstGeom>
          <a:noFill/>
          <a:ln/>
        </p:spPr>
        <p:txBody>
          <a:bodyPr wrap="square" lIns="0" tIns="0" rIns="0" bIns="0" rtlCol="0" anchor="ctr"/>
          <a:lstStyle/>
          <a:p>
            <a:pPr indent="0" marL="0">
              <a:buNone/>
            </a:pPr>
            <a:r>
              <a:rPr lang="en-US" sz="1250" i="1" dirty="0">
                <a:solidFill>
                  <a:srgbClr val="5B6B8C"/>
                </a:solidFill>
                <a:latin typeface="Calibri" pitchFamily="34" charset="0"/>
                <a:ea typeface="Calibri" pitchFamily="34" charset="-122"/>
                <a:cs typeface="Calibri" pitchFamily="34" charset="-120"/>
              </a:rPr>
              <a:t>Illustrative and generic — no actual requirement text or project-specific details are shown.</a:t>
            </a:r>
            <a:endParaRPr lang="en-US" sz="1250" dirty="0"/>
          </a:p>
        </p:txBody>
      </p:sp>
      <p:sp>
        <p:nvSpPr>
          <p:cNvPr id="5" name="Shape 3"/>
          <p:cNvSpPr/>
          <p:nvPr/>
        </p:nvSpPr>
        <p:spPr>
          <a:xfrm>
            <a:off x="548640" y="1874520"/>
            <a:ext cx="5349240" cy="3977640"/>
          </a:xfrm>
          <a:prstGeom prst="roundRect">
            <a:avLst>
              <a:gd name="adj" fmla="val 2299"/>
            </a:avLst>
          </a:prstGeom>
          <a:solidFill>
            <a:srgbClr val="FDECE3"/>
          </a:solidFill>
          <a:ln w="15875">
            <a:solidFill>
              <a:srgbClr val="C1440E"/>
            </a:solidFill>
            <a:prstDash val="solid"/>
          </a:ln>
        </p:spPr>
      </p:sp>
      <p:sp>
        <p:nvSpPr>
          <p:cNvPr id="6" name="Shape 4"/>
          <p:cNvSpPr/>
          <p:nvPr/>
        </p:nvSpPr>
        <p:spPr>
          <a:xfrm>
            <a:off x="822960" y="2130552"/>
            <a:ext cx="548640" cy="548640"/>
          </a:xfrm>
          <a:prstGeom prst="ellipse">
            <a:avLst/>
          </a:prstGeom>
          <a:solidFill>
            <a:srgbClr val="FFFFFF"/>
          </a:solidFill>
          <a:ln/>
        </p:spPr>
      </p:sp>
      <p:pic>
        <p:nvPicPr>
          <p:cNvPr id="7" name="Image 0" descr="/home/claude/icons/circleX.png">    </p:cNvPr>
          <p:cNvPicPr>
            <a:picLocks noChangeAspect="1"/>
          </p:cNvPicPr>
          <p:nvPr/>
        </p:nvPicPr>
        <p:blipFill>
          <a:blip r:embed="rId1"/>
          <a:stretch>
            <a:fillRect/>
          </a:stretch>
        </p:blipFill>
        <p:spPr>
          <a:xfrm>
            <a:off x="969264" y="2276856"/>
            <a:ext cx="256032" cy="256032"/>
          </a:xfrm>
          <a:prstGeom prst="rect">
            <a:avLst/>
          </a:prstGeom>
        </p:spPr>
      </p:pic>
      <p:sp>
        <p:nvSpPr>
          <p:cNvPr id="8" name="Text 5"/>
          <p:cNvSpPr txBox="1"/>
          <p:nvPr/>
        </p:nvSpPr>
        <p:spPr>
          <a:xfrm>
            <a:off x="1463040" y="2130552"/>
            <a:ext cx="3657600" cy="548640"/>
          </a:xfrm>
          <a:prstGeom prst="rect">
            <a:avLst/>
          </a:prstGeom>
          <a:noFill/>
          <a:ln/>
        </p:spPr>
        <p:txBody>
          <a:bodyPr wrap="square" lIns="0" tIns="0" rIns="0" bIns="0" rtlCol="0" anchor="ctr"/>
          <a:lstStyle/>
          <a:p>
            <a:pPr indent="0" marL="0">
              <a:buNone/>
            </a:pPr>
            <a:r>
              <a:rPr lang="en-US" sz="1800" b="1" dirty="0">
                <a:solidFill>
                  <a:srgbClr val="C1440E"/>
                </a:solidFill>
                <a:latin typeface="Cambria" pitchFamily="34" charset="0"/>
                <a:ea typeface="Cambria" pitchFamily="34" charset="-122"/>
                <a:cs typeface="Cambria" pitchFamily="34" charset="-120"/>
              </a:rPr>
              <a:t>Before</a:t>
            </a:r>
            <a:endParaRPr lang="en-US" sz="1800" dirty="0"/>
          </a:p>
        </p:txBody>
      </p:sp>
      <p:sp>
        <p:nvSpPr>
          <p:cNvPr id="9" name="Text 6"/>
          <p:cNvSpPr txBox="1"/>
          <p:nvPr/>
        </p:nvSpPr>
        <p:spPr>
          <a:xfrm>
            <a:off x="868680" y="2834640"/>
            <a:ext cx="4709160" cy="2788920"/>
          </a:xfrm>
          <a:prstGeom prst="rect">
            <a:avLst/>
          </a:prstGeom>
          <a:noFill/>
          <a:ln/>
        </p:spPr>
        <p:txBody>
          <a:bodyPr wrap="square" lIns="0" tIns="0" rIns="0" bIns="0" rtlCol="0" anchor="t"/>
          <a:lstStyle/>
          <a:p>
            <a:pPr marL="228600" indent="-228600">
              <a:spcAft>
                <a:spcPts val="1200"/>
              </a:spcAft>
              <a:buSzPct val="100000"/>
              <a:buChar char="•"/>
            </a:pPr>
            <a:r>
              <a:rPr lang="en-US" sz="1300" dirty="0">
                <a:solidFill>
                  <a:srgbClr val="6E1F0B"/>
                </a:solidFill>
                <a:latin typeface="Calibri" pitchFamily="34" charset="0"/>
                <a:ea typeface="Calibri" pitchFamily="34" charset="-122"/>
                <a:cs typeface="Calibri" pitchFamily="34" charset="-120"/>
              </a:rPr>
              <a:t>Referenced an undocumented screen / UI element not present in the source material</a:t>
            </a:r>
            <a:endParaRPr lang="en-US" sz="1300" dirty="0"/>
          </a:p>
          <a:p>
            <a:pPr marL="228600" indent="-228600">
              <a:spcAft>
                <a:spcPts val="1200"/>
              </a:spcAft>
              <a:buSzPct val="100000"/>
              <a:buChar char="•"/>
            </a:pPr>
            <a:r>
              <a:rPr lang="en-US" sz="1300" dirty="0">
                <a:solidFill>
                  <a:srgbClr val="6E1F0B"/>
                </a:solidFill>
                <a:latin typeface="Calibri" pitchFamily="34" charset="0"/>
                <a:ea typeface="Calibri" pitchFamily="34" charset="-122"/>
                <a:cs typeface="Calibri" pitchFamily="34" charset="-120"/>
              </a:rPr>
              <a:t>Used invented sample input values with no traceable origin</a:t>
            </a:r>
            <a:endParaRPr lang="en-US" sz="1300" dirty="0"/>
          </a:p>
          <a:p>
            <a:pPr marL="228600" indent="-228600">
              <a:spcAft>
                <a:spcPts val="1200"/>
              </a:spcAft>
              <a:buSzPct val="100000"/>
              <a:buChar char="•"/>
            </a:pPr>
            <a:r>
              <a:rPr lang="en-US" sz="1300" dirty="0">
                <a:solidFill>
                  <a:srgbClr val="6E1F0B"/>
                </a:solidFill>
                <a:latin typeface="Calibri" pitchFamily="34" charset="0"/>
                <a:ea typeface="Calibri" pitchFamily="34" charset="-122"/>
                <a:cs typeface="Calibri" pitchFamily="34" charset="-120"/>
              </a:rPr>
              <a:t>Included an extra negative-path step that was not requested or supported</a:t>
            </a:r>
            <a:endParaRPr lang="en-US" sz="1300" dirty="0"/>
          </a:p>
        </p:txBody>
      </p:sp>
      <p:sp>
        <p:nvSpPr>
          <p:cNvPr id="10" name="Shape 7"/>
          <p:cNvSpPr/>
          <p:nvPr/>
        </p:nvSpPr>
        <p:spPr>
          <a:xfrm>
            <a:off x="6309360" y="1874520"/>
            <a:ext cx="5349240" cy="3977640"/>
          </a:xfrm>
          <a:prstGeom prst="roundRect">
            <a:avLst>
              <a:gd name="adj" fmla="val 2299"/>
            </a:avLst>
          </a:prstGeom>
          <a:solidFill>
            <a:srgbClr val="E7F3EE"/>
          </a:solidFill>
          <a:ln w="15875">
            <a:solidFill>
              <a:srgbClr val="1E7A5A"/>
            </a:solidFill>
            <a:prstDash val="solid"/>
          </a:ln>
        </p:spPr>
      </p:sp>
      <p:sp>
        <p:nvSpPr>
          <p:cNvPr id="11" name="Shape 8"/>
          <p:cNvSpPr/>
          <p:nvPr/>
        </p:nvSpPr>
        <p:spPr>
          <a:xfrm>
            <a:off x="6583680" y="2130552"/>
            <a:ext cx="548640" cy="548640"/>
          </a:xfrm>
          <a:prstGeom prst="ellipse">
            <a:avLst/>
          </a:prstGeom>
          <a:solidFill>
            <a:srgbClr val="FFFFFF"/>
          </a:solidFill>
          <a:ln/>
        </p:spPr>
      </p:sp>
      <p:pic>
        <p:nvPicPr>
          <p:cNvPr id="12" name="Image 1" descr="/home/claude/icons/check.png">    </p:cNvPr>
          <p:cNvPicPr>
            <a:picLocks noChangeAspect="1"/>
          </p:cNvPicPr>
          <p:nvPr/>
        </p:nvPicPr>
        <p:blipFill>
          <a:blip r:embed="rId2"/>
          <a:stretch>
            <a:fillRect/>
          </a:stretch>
        </p:blipFill>
        <p:spPr>
          <a:xfrm>
            <a:off x="6729984" y="2276856"/>
            <a:ext cx="256032" cy="256032"/>
          </a:xfrm>
          <a:prstGeom prst="rect">
            <a:avLst/>
          </a:prstGeom>
        </p:spPr>
      </p:pic>
      <p:sp>
        <p:nvSpPr>
          <p:cNvPr id="13" name="Text 9"/>
          <p:cNvSpPr txBox="1"/>
          <p:nvPr/>
        </p:nvSpPr>
        <p:spPr>
          <a:xfrm>
            <a:off x="7223760" y="2130552"/>
            <a:ext cx="3657600" cy="548640"/>
          </a:xfrm>
          <a:prstGeom prst="rect">
            <a:avLst/>
          </a:prstGeom>
          <a:noFill/>
          <a:ln/>
        </p:spPr>
        <p:txBody>
          <a:bodyPr wrap="square" lIns="0" tIns="0" rIns="0" bIns="0" rtlCol="0" anchor="ctr"/>
          <a:lstStyle/>
          <a:p>
            <a:pPr indent="0" marL="0">
              <a:buNone/>
            </a:pPr>
            <a:r>
              <a:rPr lang="en-US" sz="1800" b="1" dirty="0">
                <a:solidFill>
                  <a:srgbClr val="1E7A5A"/>
                </a:solidFill>
                <a:latin typeface="Cambria" pitchFamily="34" charset="0"/>
                <a:ea typeface="Cambria" pitchFamily="34" charset="-122"/>
                <a:cs typeface="Cambria" pitchFamily="34" charset="-120"/>
              </a:rPr>
              <a:t>After</a:t>
            </a:r>
            <a:endParaRPr lang="en-US" sz="1800" dirty="0"/>
          </a:p>
        </p:txBody>
      </p:sp>
      <p:sp>
        <p:nvSpPr>
          <p:cNvPr id="14" name="Text 10"/>
          <p:cNvSpPr txBox="1"/>
          <p:nvPr/>
        </p:nvSpPr>
        <p:spPr>
          <a:xfrm>
            <a:off x="6629400" y="2834640"/>
            <a:ext cx="4709160" cy="2788920"/>
          </a:xfrm>
          <a:prstGeom prst="rect">
            <a:avLst/>
          </a:prstGeom>
          <a:noFill/>
          <a:ln/>
        </p:spPr>
        <p:txBody>
          <a:bodyPr wrap="square" lIns="0" tIns="0" rIns="0" bIns="0" rtlCol="0" anchor="t"/>
          <a:lstStyle/>
          <a:p>
            <a:pPr marL="228600" indent="-228600">
              <a:spcAft>
                <a:spcPts val="1200"/>
              </a:spcAft>
              <a:buSzPct val="100000"/>
              <a:buChar char="•"/>
            </a:pPr>
            <a:r>
              <a:rPr lang="en-US" sz="1300" dirty="0">
                <a:solidFill>
                  <a:srgbClr val="17513A"/>
                </a:solidFill>
                <a:latin typeface="Calibri" pitchFamily="34" charset="0"/>
                <a:ea typeface="Calibri" pitchFamily="34" charset="-122"/>
                <a:cs typeface="Calibri" pitchFamily="34" charset="-120"/>
              </a:rPr>
              <a:t>Limited to the flow explicitly documented in the requirement and architecture text</a:t>
            </a:r>
            <a:endParaRPr lang="en-US" sz="1300" dirty="0"/>
          </a:p>
          <a:p>
            <a:pPr marL="228600" indent="-228600">
              <a:spcAft>
                <a:spcPts val="1200"/>
              </a:spcAft>
              <a:buSzPct val="100000"/>
              <a:buChar char="•"/>
            </a:pPr>
            <a:r>
              <a:rPr lang="en-US" sz="1300" dirty="0">
                <a:solidFill>
                  <a:srgbClr val="17513A"/>
                </a:solidFill>
                <a:latin typeface="Calibri" pitchFamily="34" charset="0"/>
                <a:ea typeface="Calibri" pitchFamily="34" charset="-122"/>
                <a:cs typeface="Calibri" pitchFamily="34" charset="-120"/>
              </a:rPr>
              <a:t>Uses only values and steps that are directly traceable to the source</a:t>
            </a:r>
            <a:endParaRPr lang="en-US" sz="1300" dirty="0"/>
          </a:p>
          <a:p>
            <a:pPr marL="228600" indent="-228600">
              <a:spcAft>
                <a:spcPts val="1200"/>
              </a:spcAft>
              <a:buSzPct val="100000"/>
              <a:buChar char="•"/>
            </a:pPr>
            <a:r>
              <a:rPr lang="en-US" sz="1300" dirty="0">
                <a:solidFill>
                  <a:srgbClr val="17513A"/>
                </a:solidFill>
                <a:latin typeface="Calibri" pitchFamily="34" charset="0"/>
                <a:ea typeface="Calibri" pitchFamily="34" charset="-122"/>
                <a:cs typeface="Calibri" pitchFamily="34" charset="-120"/>
              </a:rPr>
              <a:t>Focused, source-grounded test case that passed validation without unsupported content</a:t>
            </a:r>
            <a:endParaRPr lang="en-US" sz="1300" dirty="0"/>
          </a:p>
        </p:txBody>
      </p:sp>
      <p:sp>
        <p:nvSpPr>
          <p:cNvPr id="15" name="Text 1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C"/>
                </a:solidFill>
                <a:latin typeface="Calibri" pitchFamily="34" charset="0"/>
                <a:ea typeface="Calibri" pitchFamily="34" charset="-122"/>
                <a:cs typeface="Calibri" pitchFamily="34" charset="-120"/>
              </a:rPr>
              <a:t>Erasmus Internship Progress — Sıla Özcan</a:t>
            </a:r>
            <a:endParaRPr lang="en-US" sz="900" dirty="0"/>
          </a:p>
        </p:txBody>
      </p:sp>
      <p:sp>
        <p:nvSpPr>
          <p:cNvPr id="16" name="Text 12"/>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56032"/>
            <a:ext cx="11091672" cy="274320"/>
          </a:xfrm>
          <a:prstGeom prst="rect">
            <a:avLst/>
          </a:prstGeom>
          <a:noFill/>
          <a:ln/>
        </p:spPr>
        <p:txBody>
          <a:bodyPr wrap="square" lIns="0" tIns="0" rIns="0" bIns="0" rtlCol="0" anchor="ctr"/>
          <a:lstStyle/>
          <a:p>
            <a:pPr algn="l" indent="0" marL="0">
              <a:buNone/>
            </a:pPr>
            <a:r>
              <a:rPr lang="en-US" sz="1200" b="1" spc="200" kern="0" dirty="0">
                <a:solidFill>
                  <a:srgbClr val="F2A65A"/>
                </a:solidFill>
                <a:latin typeface="Calibri" pitchFamily="34" charset="0"/>
                <a:ea typeface="Calibri" pitchFamily="34" charset="-122"/>
                <a:cs typeface="Calibri" pitchFamily="34" charset="-120"/>
              </a:rPr>
              <a:t>SCALING THE FIX</a:t>
            </a:r>
            <a:endParaRPr lang="en-US" sz="1200" dirty="0"/>
          </a:p>
        </p:txBody>
      </p:sp>
      <p:sp>
        <p:nvSpPr>
          <p:cNvPr id="3" name="Text 1"/>
          <p:cNvSpPr txBox="1"/>
          <p:nvPr/>
        </p:nvSpPr>
        <p:spPr>
          <a:xfrm>
            <a:off x="548640" y="457200"/>
            <a:ext cx="11091672" cy="73152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Remaining Work: Generalizing to Other Requirements</a:t>
            </a:r>
            <a:endParaRPr lang="en-US" sz="3000" dirty="0"/>
          </a:p>
        </p:txBody>
      </p:sp>
      <p:sp>
        <p:nvSpPr>
          <p:cNvPr id="4" name="Text 2"/>
          <p:cNvSpPr txBox="1"/>
          <p:nvPr/>
        </p:nvSpPr>
        <p:spPr>
          <a:xfrm>
            <a:off x="548640" y="1691640"/>
            <a:ext cx="6309360" cy="4114800"/>
          </a:xfrm>
          <a:prstGeom prst="rect">
            <a:avLst/>
          </a:prstGeom>
          <a:noFill/>
          <a:ln/>
        </p:spPr>
        <p:txBody>
          <a:bodyPr wrap="square" lIns="0" tIns="0" rIns="0" bIns="0" rtlCol="0" anchor="t"/>
          <a:lstStyle/>
          <a:p>
            <a:pPr marL="228600" indent="-228600">
              <a:spcAft>
                <a:spcPts val="1800"/>
              </a:spcAft>
              <a:buSzPct val="100000"/>
              <a:buChar char="•"/>
            </a:pPr>
            <a:r>
              <a:rPr lang="en-US" sz="1550" dirty="0">
                <a:solidFill>
                  <a:srgbClr val="1E2761"/>
                </a:solidFill>
                <a:latin typeface="Calibri" pitchFamily="34" charset="0"/>
                <a:ea typeface="Calibri" pitchFamily="34" charset="-122"/>
                <a:cs typeface="Calibri" pitchFamily="34" charset="-120"/>
              </a:rPr>
              <a:t>The fix is proven on one representative case — next step is generalizing it</a:t>
            </a:r>
            <a:endParaRPr lang="en-US" sz="1550" dirty="0"/>
          </a:p>
          <a:p>
            <a:pPr marL="228600" indent="-228600">
              <a:spcAft>
                <a:spcPts val="1800"/>
              </a:spcAft>
              <a:buSzPct val="100000"/>
              <a:buChar char="•"/>
            </a:pPr>
            <a:r>
              <a:rPr lang="en-US" sz="1550" dirty="0">
                <a:solidFill>
                  <a:srgbClr val="1E2761"/>
                </a:solidFill>
                <a:latin typeface="Calibri" pitchFamily="34" charset="0"/>
                <a:ea typeface="Calibri" pitchFamily="34" charset="-122"/>
                <a:cs typeface="Calibri" pitchFamily="34" charset="-120"/>
              </a:rPr>
              <a:t>Other requirement types may trigger different hallucination patterns than the one studied</a:t>
            </a:r>
            <a:endParaRPr lang="en-US" sz="1550" dirty="0"/>
          </a:p>
          <a:p>
            <a:pPr marL="228600" indent="-228600">
              <a:spcAft>
                <a:spcPts val="1800"/>
              </a:spcAft>
              <a:buSzPct val="100000"/>
              <a:buChar char="•"/>
            </a:pPr>
            <a:r>
              <a:rPr lang="en-US" sz="1550" dirty="0">
                <a:solidFill>
                  <a:srgbClr val="1E2761"/>
                </a:solidFill>
                <a:latin typeface="Calibri" pitchFamily="34" charset="0"/>
                <a:ea typeface="Calibri" pitchFamily="34" charset="-122"/>
                <a:cs typeface="Calibri" pitchFamily="34" charset="-120"/>
              </a:rPr>
              <a:t>Batch size and repair-prompt tuning may need to be adjusted per requirement type</a:t>
            </a:r>
            <a:endParaRPr lang="en-US" sz="1550" dirty="0"/>
          </a:p>
          <a:p>
            <a:pPr marL="228600" indent="-228600">
              <a:spcAft>
                <a:spcPts val="1800"/>
              </a:spcAft>
              <a:buSzPct val="100000"/>
              <a:buChar char="•"/>
            </a:pPr>
            <a:r>
              <a:rPr lang="en-US" sz="1550" dirty="0">
                <a:solidFill>
                  <a:srgbClr val="1E2761"/>
                </a:solidFill>
                <a:latin typeface="Calibri" pitchFamily="34" charset="0"/>
                <a:ea typeface="Calibri" pitchFamily="34" charset="-122"/>
                <a:cs typeface="Calibri" pitchFamily="34" charset="-120"/>
              </a:rPr>
              <a:t>Broader evaluation across a wider requirement sample is planned before rollout</a:t>
            </a:r>
            <a:endParaRPr lang="en-US" sz="1550" dirty="0"/>
          </a:p>
        </p:txBody>
      </p:sp>
      <p:sp>
        <p:nvSpPr>
          <p:cNvPr id="5" name="Shape 3"/>
          <p:cNvSpPr/>
          <p:nvPr/>
        </p:nvSpPr>
        <p:spPr>
          <a:xfrm>
            <a:off x="7315200" y="1783080"/>
            <a:ext cx="4343400" cy="841248"/>
          </a:xfrm>
          <a:prstGeom prst="roundRect">
            <a:avLst>
              <a:gd name="adj" fmla="val 8696"/>
            </a:avLst>
          </a:prstGeom>
          <a:solidFill>
            <a:srgbClr val="FFFFFF"/>
          </a:solidFill>
          <a:ln w="12700">
            <a:solidFill>
              <a:srgbClr val="CADCFC"/>
            </a:solidFill>
            <a:prstDash val="solid"/>
          </a:ln>
        </p:spPr>
      </p:sp>
      <p:sp>
        <p:nvSpPr>
          <p:cNvPr id="6" name="Shape 4"/>
          <p:cNvSpPr/>
          <p:nvPr/>
        </p:nvSpPr>
        <p:spPr>
          <a:xfrm>
            <a:off x="7452360" y="1901952"/>
            <a:ext cx="603504" cy="603504"/>
          </a:xfrm>
          <a:prstGeom prst="ellipse">
            <a:avLst/>
          </a:prstGeom>
          <a:solidFill>
            <a:srgbClr val="E7F3EE"/>
          </a:solidFill>
          <a:ln/>
        </p:spPr>
      </p:sp>
      <p:pic>
        <p:nvPicPr>
          <p:cNvPr id="7" name="Image 0" descr="/home/claude/icons/check.png">    </p:cNvPr>
          <p:cNvPicPr>
            <a:picLocks noChangeAspect="1"/>
          </p:cNvPicPr>
          <p:nvPr/>
        </p:nvPicPr>
        <p:blipFill>
          <a:blip r:embed="rId1"/>
          <a:stretch>
            <a:fillRect/>
          </a:stretch>
        </p:blipFill>
        <p:spPr>
          <a:xfrm>
            <a:off x="7598664" y="2048256"/>
            <a:ext cx="310896" cy="310896"/>
          </a:xfrm>
          <a:prstGeom prst="rect">
            <a:avLst/>
          </a:prstGeom>
        </p:spPr>
      </p:pic>
      <p:sp>
        <p:nvSpPr>
          <p:cNvPr id="8" name="Text 5"/>
          <p:cNvSpPr txBox="1"/>
          <p:nvPr/>
        </p:nvSpPr>
        <p:spPr>
          <a:xfrm>
            <a:off x="8211312" y="1783080"/>
            <a:ext cx="2286000" cy="84124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Representative Case A</a:t>
            </a:r>
            <a:endParaRPr lang="en-US" sz="1250" dirty="0"/>
          </a:p>
        </p:txBody>
      </p:sp>
      <p:sp>
        <p:nvSpPr>
          <p:cNvPr id="9" name="Text 6"/>
          <p:cNvSpPr txBox="1"/>
          <p:nvPr/>
        </p:nvSpPr>
        <p:spPr>
          <a:xfrm>
            <a:off x="10378440" y="1783080"/>
            <a:ext cx="1188720" cy="841248"/>
          </a:xfrm>
          <a:prstGeom prst="rect">
            <a:avLst/>
          </a:prstGeom>
          <a:noFill/>
          <a:ln/>
        </p:spPr>
        <p:txBody>
          <a:bodyPr wrap="square" lIns="0" tIns="0" rIns="0" bIns="0" rtlCol="0" anchor="ctr"/>
          <a:lstStyle/>
          <a:p>
            <a:pPr algn="r" indent="0" marL="0">
              <a:buNone/>
            </a:pPr>
            <a:r>
              <a:rPr lang="en-US" sz="1200" b="1" dirty="0">
                <a:solidFill>
                  <a:srgbClr val="1E7A5A"/>
                </a:solidFill>
                <a:latin typeface="Calibri" pitchFamily="34" charset="0"/>
                <a:ea typeface="Calibri" pitchFamily="34" charset="-122"/>
                <a:cs typeface="Calibri" pitchFamily="34" charset="-120"/>
              </a:rPr>
              <a:t>Validated</a:t>
            </a:r>
            <a:endParaRPr lang="en-US" sz="1200" dirty="0"/>
          </a:p>
        </p:txBody>
      </p:sp>
      <p:sp>
        <p:nvSpPr>
          <p:cNvPr id="10" name="Shape 7"/>
          <p:cNvSpPr/>
          <p:nvPr/>
        </p:nvSpPr>
        <p:spPr>
          <a:xfrm>
            <a:off x="7315200" y="2770632"/>
            <a:ext cx="4343400" cy="841248"/>
          </a:xfrm>
          <a:prstGeom prst="roundRect">
            <a:avLst>
              <a:gd name="adj" fmla="val 8696"/>
            </a:avLst>
          </a:prstGeom>
          <a:solidFill>
            <a:srgbClr val="FFFFFF"/>
          </a:solidFill>
          <a:ln w="12700">
            <a:solidFill>
              <a:srgbClr val="CADCFC"/>
            </a:solidFill>
            <a:prstDash val="solid"/>
          </a:ln>
        </p:spPr>
      </p:sp>
      <p:sp>
        <p:nvSpPr>
          <p:cNvPr id="11" name="Shape 8"/>
          <p:cNvSpPr/>
          <p:nvPr/>
        </p:nvSpPr>
        <p:spPr>
          <a:xfrm>
            <a:off x="7452360" y="2889504"/>
            <a:ext cx="603504" cy="603504"/>
          </a:xfrm>
          <a:prstGeom prst="ellipse">
            <a:avLst/>
          </a:prstGeom>
          <a:solidFill>
            <a:srgbClr val="EDEFF5"/>
          </a:solidFill>
          <a:ln/>
        </p:spPr>
      </p:sp>
      <p:pic>
        <p:nvPicPr>
          <p:cNvPr id="12" name="Image 1" descr="/home/claude/icons/hourglass.png">    </p:cNvPr>
          <p:cNvPicPr>
            <a:picLocks noChangeAspect="1"/>
          </p:cNvPicPr>
          <p:nvPr/>
        </p:nvPicPr>
        <p:blipFill>
          <a:blip r:embed="rId2"/>
          <a:stretch>
            <a:fillRect/>
          </a:stretch>
        </p:blipFill>
        <p:spPr>
          <a:xfrm>
            <a:off x="7598664" y="3035808"/>
            <a:ext cx="310896" cy="310896"/>
          </a:xfrm>
          <a:prstGeom prst="rect">
            <a:avLst/>
          </a:prstGeom>
        </p:spPr>
      </p:pic>
      <p:sp>
        <p:nvSpPr>
          <p:cNvPr id="13" name="Text 9"/>
          <p:cNvSpPr txBox="1"/>
          <p:nvPr/>
        </p:nvSpPr>
        <p:spPr>
          <a:xfrm>
            <a:off x="8211312" y="2770632"/>
            <a:ext cx="2286000" cy="84124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Requirement Type B</a:t>
            </a:r>
            <a:endParaRPr lang="en-US" sz="1250" dirty="0"/>
          </a:p>
        </p:txBody>
      </p:sp>
      <p:sp>
        <p:nvSpPr>
          <p:cNvPr id="14" name="Text 10"/>
          <p:cNvSpPr txBox="1"/>
          <p:nvPr/>
        </p:nvSpPr>
        <p:spPr>
          <a:xfrm>
            <a:off x="10378440" y="2770632"/>
            <a:ext cx="1188720" cy="841248"/>
          </a:xfrm>
          <a:prstGeom prst="rect">
            <a:avLst/>
          </a:prstGeom>
          <a:noFill/>
          <a:ln/>
        </p:spPr>
        <p:txBody>
          <a:bodyPr wrap="square" lIns="0" tIns="0" rIns="0" bIns="0" rtlCol="0" anchor="ctr"/>
          <a:lstStyle/>
          <a:p>
            <a:pPr algn="r" indent="0" marL="0">
              <a:buNone/>
            </a:pPr>
            <a:r>
              <a:rPr lang="en-US" sz="1200" b="1" dirty="0">
                <a:solidFill>
                  <a:srgbClr val="5B6B8C"/>
                </a:solidFill>
                <a:latin typeface="Calibri" pitchFamily="34" charset="0"/>
                <a:ea typeface="Calibri" pitchFamily="34" charset="-122"/>
                <a:cs typeface="Calibri" pitchFamily="34" charset="-120"/>
              </a:rPr>
              <a:t>Pending</a:t>
            </a:r>
            <a:endParaRPr lang="en-US" sz="1200" dirty="0"/>
          </a:p>
        </p:txBody>
      </p:sp>
      <p:sp>
        <p:nvSpPr>
          <p:cNvPr id="15" name="Shape 11"/>
          <p:cNvSpPr/>
          <p:nvPr/>
        </p:nvSpPr>
        <p:spPr>
          <a:xfrm>
            <a:off x="7315200" y="3758184"/>
            <a:ext cx="4343400" cy="841248"/>
          </a:xfrm>
          <a:prstGeom prst="roundRect">
            <a:avLst>
              <a:gd name="adj" fmla="val 8696"/>
            </a:avLst>
          </a:prstGeom>
          <a:solidFill>
            <a:srgbClr val="FFFFFF"/>
          </a:solidFill>
          <a:ln w="12700">
            <a:solidFill>
              <a:srgbClr val="CADCFC"/>
            </a:solidFill>
            <a:prstDash val="solid"/>
          </a:ln>
        </p:spPr>
      </p:sp>
      <p:sp>
        <p:nvSpPr>
          <p:cNvPr id="16" name="Shape 12"/>
          <p:cNvSpPr/>
          <p:nvPr/>
        </p:nvSpPr>
        <p:spPr>
          <a:xfrm>
            <a:off x="7452360" y="3877056"/>
            <a:ext cx="603504" cy="603504"/>
          </a:xfrm>
          <a:prstGeom prst="ellipse">
            <a:avLst/>
          </a:prstGeom>
          <a:solidFill>
            <a:srgbClr val="EDEFF5"/>
          </a:solidFill>
          <a:ln/>
        </p:spPr>
      </p:sp>
      <p:pic>
        <p:nvPicPr>
          <p:cNvPr id="17" name="Image 2" descr="/home/claude/icons/hourglass.png">    </p:cNvPr>
          <p:cNvPicPr>
            <a:picLocks noChangeAspect="1"/>
          </p:cNvPicPr>
          <p:nvPr/>
        </p:nvPicPr>
        <p:blipFill>
          <a:blip r:embed="rId3"/>
          <a:stretch>
            <a:fillRect/>
          </a:stretch>
        </p:blipFill>
        <p:spPr>
          <a:xfrm>
            <a:off x="7598664" y="4023360"/>
            <a:ext cx="310896" cy="310896"/>
          </a:xfrm>
          <a:prstGeom prst="rect">
            <a:avLst/>
          </a:prstGeom>
        </p:spPr>
      </p:pic>
      <p:sp>
        <p:nvSpPr>
          <p:cNvPr id="18" name="Text 13"/>
          <p:cNvSpPr txBox="1"/>
          <p:nvPr/>
        </p:nvSpPr>
        <p:spPr>
          <a:xfrm>
            <a:off x="8211312" y="3758184"/>
            <a:ext cx="2286000" cy="84124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Requirement Type C</a:t>
            </a:r>
            <a:endParaRPr lang="en-US" sz="1250" dirty="0"/>
          </a:p>
        </p:txBody>
      </p:sp>
      <p:sp>
        <p:nvSpPr>
          <p:cNvPr id="19" name="Text 14"/>
          <p:cNvSpPr txBox="1"/>
          <p:nvPr/>
        </p:nvSpPr>
        <p:spPr>
          <a:xfrm>
            <a:off x="10378440" y="3758184"/>
            <a:ext cx="1188720" cy="841248"/>
          </a:xfrm>
          <a:prstGeom prst="rect">
            <a:avLst/>
          </a:prstGeom>
          <a:noFill/>
          <a:ln/>
        </p:spPr>
        <p:txBody>
          <a:bodyPr wrap="square" lIns="0" tIns="0" rIns="0" bIns="0" rtlCol="0" anchor="ctr"/>
          <a:lstStyle/>
          <a:p>
            <a:pPr algn="r" indent="0" marL="0">
              <a:buNone/>
            </a:pPr>
            <a:r>
              <a:rPr lang="en-US" sz="1200" b="1" dirty="0">
                <a:solidFill>
                  <a:srgbClr val="5B6B8C"/>
                </a:solidFill>
                <a:latin typeface="Calibri" pitchFamily="34" charset="0"/>
                <a:ea typeface="Calibri" pitchFamily="34" charset="-122"/>
                <a:cs typeface="Calibri" pitchFamily="34" charset="-120"/>
              </a:rPr>
              <a:t>Pending</a:t>
            </a:r>
            <a:endParaRPr lang="en-US" sz="1200" dirty="0"/>
          </a:p>
        </p:txBody>
      </p:sp>
      <p:sp>
        <p:nvSpPr>
          <p:cNvPr id="20" name="Shape 15"/>
          <p:cNvSpPr/>
          <p:nvPr/>
        </p:nvSpPr>
        <p:spPr>
          <a:xfrm>
            <a:off x="7315200" y="4745736"/>
            <a:ext cx="4343400" cy="841248"/>
          </a:xfrm>
          <a:prstGeom prst="roundRect">
            <a:avLst>
              <a:gd name="adj" fmla="val 8696"/>
            </a:avLst>
          </a:prstGeom>
          <a:solidFill>
            <a:srgbClr val="FFFFFF"/>
          </a:solidFill>
          <a:ln w="12700">
            <a:solidFill>
              <a:srgbClr val="CADCFC"/>
            </a:solidFill>
            <a:prstDash val="solid"/>
          </a:ln>
        </p:spPr>
      </p:sp>
      <p:sp>
        <p:nvSpPr>
          <p:cNvPr id="21" name="Shape 16"/>
          <p:cNvSpPr/>
          <p:nvPr/>
        </p:nvSpPr>
        <p:spPr>
          <a:xfrm>
            <a:off x="7452360" y="4864608"/>
            <a:ext cx="603504" cy="603504"/>
          </a:xfrm>
          <a:prstGeom prst="ellipse">
            <a:avLst/>
          </a:prstGeom>
          <a:solidFill>
            <a:srgbClr val="EDEFF5"/>
          </a:solidFill>
          <a:ln/>
        </p:spPr>
      </p:sp>
      <p:pic>
        <p:nvPicPr>
          <p:cNvPr id="22" name="Image 3" descr="/home/claude/icons/hourglass.png">    </p:cNvPr>
          <p:cNvPicPr>
            <a:picLocks noChangeAspect="1"/>
          </p:cNvPicPr>
          <p:nvPr/>
        </p:nvPicPr>
        <p:blipFill>
          <a:blip r:embed="rId4"/>
          <a:stretch>
            <a:fillRect/>
          </a:stretch>
        </p:blipFill>
        <p:spPr>
          <a:xfrm>
            <a:off x="7598664" y="5010912"/>
            <a:ext cx="310896" cy="310896"/>
          </a:xfrm>
          <a:prstGeom prst="rect">
            <a:avLst/>
          </a:prstGeom>
        </p:spPr>
      </p:pic>
      <p:sp>
        <p:nvSpPr>
          <p:cNvPr id="23" name="Text 17"/>
          <p:cNvSpPr txBox="1"/>
          <p:nvPr/>
        </p:nvSpPr>
        <p:spPr>
          <a:xfrm>
            <a:off x="8211312" y="4745736"/>
            <a:ext cx="2286000" cy="84124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Requirement Type D</a:t>
            </a:r>
            <a:endParaRPr lang="en-US" sz="1250" dirty="0"/>
          </a:p>
        </p:txBody>
      </p:sp>
      <p:sp>
        <p:nvSpPr>
          <p:cNvPr id="24" name="Text 18"/>
          <p:cNvSpPr txBox="1"/>
          <p:nvPr/>
        </p:nvSpPr>
        <p:spPr>
          <a:xfrm>
            <a:off x="10378440" y="4745736"/>
            <a:ext cx="1188720" cy="841248"/>
          </a:xfrm>
          <a:prstGeom prst="rect">
            <a:avLst/>
          </a:prstGeom>
          <a:noFill/>
          <a:ln/>
        </p:spPr>
        <p:txBody>
          <a:bodyPr wrap="square" lIns="0" tIns="0" rIns="0" bIns="0" rtlCol="0" anchor="ctr"/>
          <a:lstStyle/>
          <a:p>
            <a:pPr algn="r" indent="0" marL="0">
              <a:buNone/>
            </a:pPr>
            <a:r>
              <a:rPr lang="en-US" sz="1200" b="1" dirty="0">
                <a:solidFill>
                  <a:srgbClr val="5B6B8C"/>
                </a:solidFill>
                <a:latin typeface="Calibri" pitchFamily="34" charset="0"/>
                <a:ea typeface="Calibri" pitchFamily="34" charset="-122"/>
                <a:cs typeface="Calibri" pitchFamily="34" charset="-120"/>
              </a:rPr>
              <a:t>Pending</a:t>
            </a:r>
            <a:endParaRPr lang="en-US" sz="1200" dirty="0"/>
          </a:p>
        </p:txBody>
      </p:sp>
      <p:sp>
        <p:nvSpPr>
          <p:cNvPr id="25" name="Text 19"/>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C"/>
                </a:solidFill>
                <a:latin typeface="Calibri" pitchFamily="34" charset="0"/>
                <a:ea typeface="Calibri" pitchFamily="34" charset="-122"/>
                <a:cs typeface="Calibri" pitchFamily="34" charset="-120"/>
              </a:rPr>
              <a:t>Erasmus Internship Progress — Sıla Özcan</a:t>
            </a:r>
            <a:endParaRPr lang="en-US" sz="900" dirty="0"/>
          </a:p>
        </p:txBody>
      </p:sp>
      <p:sp>
        <p:nvSpPr>
          <p:cNvPr id="26" name="Text 20"/>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56032"/>
            <a:ext cx="11091672" cy="274320"/>
          </a:xfrm>
          <a:prstGeom prst="rect">
            <a:avLst/>
          </a:prstGeom>
          <a:noFill/>
          <a:ln/>
        </p:spPr>
        <p:txBody>
          <a:bodyPr wrap="square" lIns="0" tIns="0" rIns="0" bIns="0" rtlCol="0" anchor="ctr"/>
          <a:lstStyle/>
          <a:p>
            <a:pPr algn="l" indent="0" marL="0">
              <a:buNone/>
            </a:pPr>
            <a:r>
              <a:rPr lang="en-US" sz="1200" b="1" spc="200" kern="0" dirty="0">
                <a:solidFill>
                  <a:srgbClr val="F2A65A"/>
                </a:solidFill>
                <a:latin typeface="Calibri" pitchFamily="34" charset="0"/>
                <a:ea typeface="Calibri" pitchFamily="34" charset="-122"/>
                <a:cs typeface="Calibri" pitchFamily="34" charset="-120"/>
              </a:rPr>
              <a:t>STATUS</a:t>
            </a:r>
            <a:endParaRPr lang="en-US" sz="1200" dirty="0"/>
          </a:p>
        </p:txBody>
      </p:sp>
      <p:sp>
        <p:nvSpPr>
          <p:cNvPr id="3" name="Text 1"/>
          <p:cNvSpPr txBox="1"/>
          <p:nvPr/>
        </p:nvSpPr>
        <p:spPr>
          <a:xfrm>
            <a:off x="548640" y="457200"/>
            <a:ext cx="11091672" cy="73152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Validation Status</a:t>
            </a:r>
            <a:endParaRPr lang="en-US" sz="3000" dirty="0"/>
          </a:p>
        </p:txBody>
      </p:sp>
      <p:sp>
        <p:nvSpPr>
          <p:cNvPr id="4" name="Shape 2"/>
          <p:cNvSpPr/>
          <p:nvPr/>
        </p:nvSpPr>
        <p:spPr>
          <a:xfrm>
            <a:off x="548640" y="1691640"/>
            <a:ext cx="11064240" cy="914400"/>
          </a:xfrm>
          <a:prstGeom prst="roundRect">
            <a:avLst>
              <a:gd name="adj" fmla="val 8000"/>
            </a:avLst>
          </a:prstGeom>
          <a:solidFill>
            <a:srgbClr val="FFFFFF"/>
          </a:solidFill>
          <a:ln w="12700">
            <a:solidFill>
              <a:srgbClr val="CADCFC"/>
            </a:solidFill>
            <a:prstDash val="solid"/>
          </a:ln>
        </p:spPr>
      </p:sp>
      <p:sp>
        <p:nvSpPr>
          <p:cNvPr id="5" name="Text 3"/>
          <p:cNvSpPr txBox="1"/>
          <p:nvPr/>
        </p:nvSpPr>
        <p:spPr>
          <a:xfrm>
            <a:off x="868680" y="1691640"/>
            <a:ext cx="7589520" cy="914400"/>
          </a:xfrm>
          <a:prstGeom prst="rect">
            <a:avLst/>
          </a:prstGeom>
          <a:noFill/>
          <a:ln/>
        </p:spPr>
        <p:txBody>
          <a:bodyPr wrap="square" lIns="0" tIns="0" rIns="0" bIns="0" rtlCol="0" anchor="ctr"/>
          <a:lstStyle/>
          <a:p>
            <a:pPr indent="0" marL="0">
              <a:buNone/>
            </a:pPr>
            <a:r>
              <a:rPr lang="en-US" sz="1500" dirty="0">
                <a:solidFill>
                  <a:srgbClr val="1E2761"/>
                </a:solidFill>
                <a:latin typeface="Calibri" pitchFamily="34" charset="0"/>
                <a:ea typeface="Calibri" pitchFamily="34" charset="-122"/>
                <a:cs typeface="Calibri" pitchFamily="34" charset="-120"/>
              </a:rPr>
              <a:t>Representative case quality improvement</a:t>
            </a:r>
            <a:endParaRPr lang="en-US" sz="1500" dirty="0"/>
          </a:p>
        </p:txBody>
      </p:sp>
      <p:sp>
        <p:nvSpPr>
          <p:cNvPr id="6" name="Shape 4"/>
          <p:cNvSpPr/>
          <p:nvPr/>
        </p:nvSpPr>
        <p:spPr>
          <a:xfrm>
            <a:off x="8732520" y="1911096"/>
            <a:ext cx="2606040" cy="475488"/>
          </a:xfrm>
          <a:prstGeom prst="roundRect">
            <a:avLst>
              <a:gd name="adj" fmla="val 50000"/>
            </a:avLst>
          </a:prstGeom>
          <a:solidFill>
            <a:srgbClr val="1E7A5A"/>
          </a:solidFill>
          <a:ln/>
        </p:spPr>
      </p:sp>
      <p:sp>
        <p:nvSpPr>
          <p:cNvPr id="7" name="Text 5"/>
          <p:cNvSpPr txBox="1"/>
          <p:nvPr/>
        </p:nvSpPr>
        <p:spPr>
          <a:xfrm>
            <a:off x="8732520" y="1911096"/>
            <a:ext cx="260604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Validated</a:t>
            </a:r>
            <a:endParaRPr lang="en-US" sz="1250" dirty="0"/>
          </a:p>
        </p:txBody>
      </p:sp>
      <p:sp>
        <p:nvSpPr>
          <p:cNvPr id="8" name="Shape 6"/>
          <p:cNvSpPr/>
          <p:nvPr/>
        </p:nvSpPr>
        <p:spPr>
          <a:xfrm>
            <a:off x="548640" y="2788920"/>
            <a:ext cx="11064240" cy="914400"/>
          </a:xfrm>
          <a:prstGeom prst="roundRect">
            <a:avLst>
              <a:gd name="adj" fmla="val 8000"/>
            </a:avLst>
          </a:prstGeom>
          <a:solidFill>
            <a:srgbClr val="FFFFFF"/>
          </a:solidFill>
          <a:ln w="12700">
            <a:solidFill>
              <a:srgbClr val="CADCFC"/>
            </a:solidFill>
            <a:prstDash val="solid"/>
          </a:ln>
        </p:spPr>
      </p:sp>
      <p:sp>
        <p:nvSpPr>
          <p:cNvPr id="9" name="Text 7"/>
          <p:cNvSpPr txBox="1"/>
          <p:nvPr/>
        </p:nvSpPr>
        <p:spPr>
          <a:xfrm>
            <a:off x="868680" y="2788920"/>
            <a:ext cx="7589520" cy="914400"/>
          </a:xfrm>
          <a:prstGeom prst="rect">
            <a:avLst/>
          </a:prstGeom>
          <a:noFill/>
          <a:ln/>
        </p:spPr>
        <p:txBody>
          <a:bodyPr wrap="square" lIns="0" tIns="0" rIns="0" bIns="0" rtlCol="0" anchor="ctr"/>
          <a:lstStyle/>
          <a:p>
            <a:pPr indent="0" marL="0">
              <a:buNone/>
            </a:pPr>
            <a:r>
              <a:rPr lang="en-US" sz="1500" dirty="0">
                <a:solidFill>
                  <a:srgbClr val="1E2761"/>
                </a:solidFill>
                <a:latin typeface="Calibri" pitchFamily="34" charset="0"/>
                <a:ea typeface="Calibri" pitchFamily="34" charset="-122"/>
                <a:cs typeface="Calibri" pitchFamily="34" charset="-120"/>
              </a:rPr>
              <a:t>Broader requirement-set evaluation</a:t>
            </a:r>
            <a:endParaRPr lang="en-US" sz="1500" dirty="0"/>
          </a:p>
        </p:txBody>
      </p:sp>
      <p:sp>
        <p:nvSpPr>
          <p:cNvPr id="10" name="Shape 8"/>
          <p:cNvSpPr/>
          <p:nvPr/>
        </p:nvSpPr>
        <p:spPr>
          <a:xfrm>
            <a:off x="8732520" y="3008376"/>
            <a:ext cx="2606040" cy="475488"/>
          </a:xfrm>
          <a:prstGeom prst="roundRect">
            <a:avLst>
              <a:gd name="adj" fmla="val 50000"/>
            </a:avLst>
          </a:prstGeom>
          <a:solidFill>
            <a:srgbClr val="F2A65A"/>
          </a:solidFill>
          <a:ln/>
        </p:spPr>
      </p:sp>
      <p:sp>
        <p:nvSpPr>
          <p:cNvPr id="11" name="Text 9"/>
          <p:cNvSpPr txBox="1"/>
          <p:nvPr/>
        </p:nvSpPr>
        <p:spPr>
          <a:xfrm>
            <a:off x="8732520" y="3008376"/>
            <a:ext cx="260604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 progress</a:t>
            </a:r>
            <a:endParaRPr lang="en-US" sz="1250" dirty="0"/>
          </a:p>
        </p:txBody>
      </p:sp>
      <p:sp>
        <p:nvSpPr>
          <p:cNvPr id="12" name="Shape 10"/>
          <p:cNvSpPr/>
          <p:nvPr/>
        </p:nvSpPr>
        <p:spPr>
          <a:xfrm>
            <a:off x="548640" y="3886200"/>
            <a:ext cx="11064240" cy="914400"/>
          </a:xfrm>
          <a:prstGeom prst="roundRect">
            <a:avLst>
              <a:gd name="adj" fmla="val 8000"/>
            </a:avLst>
          </a:prstGeom>
          <a:solidFill>
            <a:srgbClr val="FFFFFF"/>
          </a:solidFill>
          <a:ln w="12700">
            <a:solidFill>
              <a:srgbClr val="CADCFC"/>
            </a:solidFill>
            <a:prstDash val="solid"/>
          </a:ln>
        </p:spPr>
      </p:sp>
      <p:sp>
        <p:nvSpPr>
          <p:cNvPr id="13" name="Text 11"/>
          <p:cNvSpPr txBox="1"/>
          <p:nvPr/>
        </p:nvSpPr>
        <p:spPr>
          <a:xfrm>
            <a:off x="868680" y="3886200"/>
            <a:ext cx="7589520" cy="914400"/>
          </a:xfrm>
          <a:prstGeom prst="rect">
            <a:avLst/>
          </a:prstGeom>
          <a:noFill/>
          <a:ln/>
        </p:spPr>
        <p:txBody>
          <a:bodyPr wrap="square" lIns="0" tIns="0" rIns="0" bIns="0" rtlCol="0" anchor="ctr"/>
          <a:lstStyle/>
          <a:p>
            <a:pPr indent="0" marL="0">
              <a:buNone/>
            </a:pPr>
            <a:r>
              <a:rPr lang="en-US" sz="1500" dirty="0">
                <a:solidFill>
                  <a:srgbClr val="1E2761"/>
                </a:solidFill>
                <a:latin typeface="Calibri" pitchFamily="34" charset="0"/>
                <a:ea typeface="Calibri" pitchFamily="34" charset="-122"/>
                <a:cs typeface="Calibri" pitchFamily="34" charset="-120"/>
              </a:rPr>
              <a:t>Default model selection</a:t>
            </a:r>
            <a:endParaRPr lang="en-US" sz="1500" dirty="0"/>
          </a:p>
        </p:txBody>
      </p:sp>
      <p:sp>
        <p:nvSpPr>
          <p:cNvPr id="14" name="Shape 12"/>
          <p:cNvSpPr/>
          <p:nvPr/>
        </p:nvSpPr>
        <p:spPr>
          <a:xfrm>
            <a:off x="8732520" y="4105656"/>
            <a:ext cx="2606040" cy="475488"/>
          </a:xfrm>
          <a:prstGeom prst="roundRect">
            <a:avLst>
              <a:gd name="adj" fmla="val 50000"/>
            </a:avLst>
          </a:prstGeom>
          <a:solidFill>
            <a:srgbClr val="C1440E"/>
          </a:solidFill>
          <a:ln/>
        </p:spPr>
      </p:sp>
      <p:sp>
        <p:nvSpPr>
          <p:cNvPr id="15" name="Text 13"/>
          <p:cNvSpPr txBox="1"/>
          <p:nvPr/>
        </p:nvSpPr>
        <p:spPr>
          <a:xfrm>
            <a:off x="8732520" y="4105656"/>
            <a:ext cx="260604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Pending sign-off</a:t>
            </a:r>
            <a:endParaRPr lang="en-US" sz="1250" dirty="0"/>
          </a:p>
        </p:txBody>
      </p:sp>
      <p:sp>
        <p:nvSpPr>
          <p:cNvPr id="16" name="Shape 14"/>
          <p:cNvSpPr/>
          <p:nvPr/>
        </p:nvSpPr>
        <p:spPr>
          <a:xfrm>
            <a:off x="548640" y="4983480"/>
            <a:ext cx="11064240" cy="914400"/>
          </a:xfrm>
          <a:prstGeom prst="roundRect">
            <a:avLst>
              <a:gd name="adj" fmla="val 8000"/>
            </a:avLst>
          </a:prstGeom>
          <a:solidFill>
            <a:srgbClr val="FFFFFF"/>
          </a:solidFill>
          <a:ln w="12700">
            <a:solidFill>
              <a:srgbClr val="CADCFC"/>
            </a:solidFill>
            <a:prstDash val="solid"/>
          </a:ln>
        </p:spPr>
      </p:sp>
      <p:sp>
        <p:nvSpPr>
          <p:cNvPr id="17" name="Text 15"/>
          <p:cNvSpPr txBox="1"/>
          <p:nvPr/>
        </p:nvSpPr>
        <p:spPr>
          <a:xfrm>
            <a:off x="868680" y="4983480"/>
            <a:ext cx="7589520" cy="914400"/>
          </a:xfrm>
          <a:prstGeom prst="rect">
            <a:avLst/>
          </a:prstGeom>
          <a:noFill/>
          <a:ln/>
        </p:spPr>
        <p:txBody>
          <a:bodyPr wrap="square" lIns="0" tIns="0" rIns="0" bIns="0" rtlCol="0" anchor="ctr"/>
          <a:lstStyle/>
          <a:p>
            <a:pPr indent="0" marL="0">
              <a:buNone/>
            </a:pPr>
            <a:r>
              <a:rPr lang="en-US" sz="1500" dirty="0">
                <a:solidFill>
                  <a:srgbClr val="1E2761"/>
                </a:solidFill>
                <a:latin typeface="Calibri" pitchFamily="34" charset="0"/>
                <a:ea typeface="Calibri" pitchFamily="34" charset="-122"/>
                <a:cs typeface="Calibri" pitchFamily="34" charset="-120"/>
              </a:rPr>
              <a:t>Workspace document allowlists &amp; existing validation</a:t>
            </a:r>
            <a:endParaRPr lang="en-US" sz="1500" dirty="0"/>
          </a:p>
        </p:txBody>
      </p:sp>
      <p:sp>
        <p:nvSpPr>
          <p:cNvPr id="18" name="Shape 16"/>
          <p:cNvSpPr/>
          <p:nvPr/>
        </p:nvSpPr>
        <p:spPr>
          <a:xfrm>
            <a:off x="8732520" y="5202936"/>
            <a:ext cx="2606040" cy="475488"/>
          </a:xfrm>
          <a:prstGeom prst="roundRect">
            <a:avLst>
              <a:gd name="adj" fmla="val 50000"/>
            </a:avLst>
          </a:prstGeom>
          <a:solidFill>
            <a:srgbClr val="1E7A5A"/>
          </a:solidFill>
          <a:ln/>
        </p:spPr>
      </p:sp>
      <p:sp>
        <p:nvSpPr>
          <p:cNvPr id="19" name="Text 17"/>
          <p:cNvSpPr txBox="1"/>
          <p:nvPr/>
        </p:nvSpPr>
        <p:spPr>
          <a:xfrm>
            <a:off x="8732520" y="5202936"/>
            <a:ext cx="260604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Confirmed intact</a:t>
            </a:r>
            <a:endParaRPr lang="en-US" sz="1250" dirty="0"/>
          </a:p>
        </p:txBody>
      </p:sp>
      <p:sp>
        <p:nvSpPr>
          <p:cNvPr id="20" name="Text 18"/>
          <p:cNvSpPr txBox="1"/>
          <p:nvPr/>
        </p:nvSpPr>
        <p:spPr>
          <a:xfrm>
            <a:off x="548640" y="6126480"/>
            <a:ext cx="11064240" cy="365760"/>
          </a:xfrm>
          <a:prstGeom prst="rect">
            <a:avLst/>
          </a:prstGeom>
          <a:noFill/>
          <a:ln/>
        </p:spPr>
        <p:txBody>
          <a:bodyPr wrap="square" lIns="0" tIns="0" rIns="0" bIns="0" rtlCol="0" anchor="ctr"/>
          <a:lstStyle/>
          <a:p>
            <a:pPr indent="0" marL="0">
              <a:buNone/>
            </a:pPr>
            <a:r>
              <a:rPr lang="en-US" sz="1200" i="1" dirty="0">
                <a:solidFill>
                  <a:srgbClr val="5B6B8C"/>
                </a:solidFill>
                <a:latin typeface="Calibri" pitchFamily="34" charset="0"/>
                <a:ea typeface="Calibri" pitchFamily="34" charset="-122"/>
                <a:cs typeface="Calibri" pitchFamily="34" charset="-120"/>
              </a:rPr>
              <a:t>Note: default model selection requires repeated evaluation and formal sign-off before adoption.</a:t>
            </a:r>
            <a:endParaRPr lang="en-US" sz="1200" dirty="0"/>
          </a:p>
        </p:txBody>
      </p:sp>
      <p:sp>
        <p:nvSpPr>
          <p:cNvPr id="21" name="Text 19"/>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C"/>
                </a:solidFill>
                <a:latin typeface="Calibri" pitchFamily="34" charset="0"/>
                <a:ea typeface="Calibri" pitchFamily="34" charset="-122"/>
                <a:cs typeface="Calibri" pitchFamily="34" charset="-120"/>
              </a:rPr>
              <a:t>Erasmus Internship Progress — Sıla Özcan</a:t>
            </a:r>
            <a:endParaRPr lang="en-US" sz="900" dirty="0"/>
          </a:p>
        </p:txBody>
      </p:sp>
      <p:sp>
        <p:nvSpPr>
          <p:cNvPr id="22" name="Text 20"/>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56032"/>
            <a:ext cx="11091672" cy="274320"/>
          </a:xfrm>
          <a:prstGeom prst="rect">
            <a:avLst/>
          </a:prstGeom>
          <a:noFill/>
          <a:ln/>
        </p:spPr>
        <p:txBody>
          <a:bodyPr wrap="square" lIns="0" tIns="0" rIns="0" bIns="0" rtlCol="0" anchor="ctr"/>
          <a:lstStyle/>
          <a:p>
            <a:pPr algn="l" indent="0" marL="0">
              <a:buNone/>
            </a:pPr>
            <a:r>
              <a:rPr lang="en-US" sz="1200" b="1" spc="200" kern="0" dirty="0">
                <a:solidFill>
                  <a:srgbClr val="F2A65A"/>
                </a:solidFill>
                <a:latin typeface="Calibri" pitchFamily="34" charset="0"/>
                <a:ea typeface="Calibri" pitchFamily="34" charset="-122"/>
                <a:cs typeface="Calibri" pitchFamily="34" charset="-120"/>
              </a:rPr>
              <a:t>REFLECTION</a:t>
            </a:r>
            <a:endParaRPr lang="en-US" sz="1200" dirty="0"/>
          </a:p>
        </p:txBody>
      </p:sp>
      <p:sp>
        <p:nvSpPr>
          <p:cNvPr id="3" name="Text 1"/>
          <p:cNvSpPr txBox="1"/>
          <p:nvPr/>
        </p:nvSpPr>
        <p:spPr>
          <a:xfrm>
            <a:off x="548640" y="457200"/>
            <a:ext cx="11091672" cy="73152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Lessons Learned</a:t>
            </a:r>
            <a:endParaRPr lang="en-US" sz="3000" dirty="0"/>
          </a:p>
        </p:txBody>
      </p:sp>
      <p:sp>
        <p:nvSpPr>
          <p:cNvPr id="4" name="Shape 2"/>
          <p:cNvSpPr/>
          <p:nvPr/>
        </p:nvSpPr>
        <p:spPr>
          <a:xfrm>
            <a:off x="548640" y="1600200"/>
            <a:ext cx="5349240" cy="1783080"/>
          </a:xfrm>
          <a:prstGeom prst="roundRect">
            <a:avLst>
              <a:gd name="adj" fmla="val 4615"/>
            </a:avLst>
          </a:prstGeom>
          <a:solidFill>
            <a:srgbClr val="1E2761"/>
          </a:solidFill>
          <a:ln/>
        </p:spPr>
      </p:sp>
      <p:sp>
        <p:nvSpPr>
          <p:cNvPr id="5" name="Shape 3"/>
          <p:cNvSpPr/>
          <p:nvPr/>
        </p:nvSpPr>
        <p:spPr>
          <a:xfrm>
            <a:off x="777240" y="1828800"/>
            <a:ext cx="640080" cy="640080"/>
          </a:xfrm>
          <a:prstGeom prst="ellipse">
            <a:avLst/>
          </a:prstGeom>
          <a:solidFill>
            <a:srgbClr val="2B3A82"/>
          </a:solidFill>
          <a:ln/>
        </p:spPr>
      </p:sp>
      <p:pic>
        <p:nvPicPr>
          <p:cNvPr id="6" name="Image 0" descr="/home/claude/icons/lightbulb.png">    </p:cNvPr>
          <p:cNvPicPr>
            <a:picLocks noChangeAspect="1"/>
          </p:cNvPicPr>
          <p:nvPr/>
        </p:nvPicPr>
        <p:blipFill>
          <a:blip r:embed="rId1"/>
          <a:stretch>
            <a:fillRect/>
          </a:stretch>
        </p:blipFill>
        <p:spPr>
          <a:xfrm>
            <a:off x="923544" y="1975104"/>
            <a:ext cx="347472" cy="347472"/>
          </a:xfrm>
          <a:prstGeom prst="rect">
            <a:avLst/>
          </a:prstGeom>
        </p:spPr>
      </p:pic>
      <p:sp>
        <p:nvSpPr>
          <p:cNvPr id="7" name="Text 4"/>
          <p:cNvSpPr txBox="1"/>
          <p:nvPr/>
        </p:nvSpPr>
        <p:spPr>
          <a:xfrm>
            <a:off x="1554480" y="1783080"/>
            <a:ext cx="4160520" cy="502920"/>
          </a:xfrm>
          <a:prstGeom prst="rect">
            <a:avLst/>
          </a:prstGeom>
          <a:noFill/>
          <a:ln/>
        </p:spPr>
        <p:txBody>
          <a:bodyPr wrap="square" lIns="0" tIns="0" rIns="0" bIns="0" rtlCol="0" anchor="ctr"/>
          <a:lstStyle/>
          <a:p>
            <a:pPr indent="0" marL="0">
              <a:buNone/>
            </a:pPr>
            <a:r>
              <a:rPr lang="en-US" sz="1450" b="1" dirty="0">
                <a:solidFill>
                  <a:srgbClr val="F2A65A"/>
                </a:solidFill>
                <a:latin typeface="Cambria" pitchFamily="34" charset="0"/>
                <a:ea typeface="Cambria" pitchFamily="34" charset="-122"/>
                <a:cs typeface="Cambria" pitchFamily="34" charset="-120"/>
              </a:rPr>
              <a:t>JSON validity ≠ correctness</a:t>
            </a:r>
            <a:endParaRPr lang="en-US" sz="1450" dirty="0"/>
          </a:p>
        </p:txBody>
      </p:sp>
      <p:sp>
        <p:nvSpPr>
          <p:cNvPr id="8" name="Text 5"/>
          <p:cNvSpPr txBox="1"/>
          <p:nvPr/>
        </p:nvSpPr>
        <p:spPr>
          <a:xfrm>
            <a:off x="1554480" y="2286000"/>
            <a:ext cx="4160520" cy="96012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Structurally valid output can still be semantically wrong; content-level checks are essential.</a:t>
            </a:r>
            <a:endParaRPr lang="en-US" sz="1200" dirty="0"/>
          </a:p>
        </p:txBody>
      </p:sp>
      <p:sp>
        <p:nvSpPr>
          <p:cNvPr id="9" name="Shape 6"/>
          <p:cNvSpPr/>
          <p:nvPr/>
        </p:nvSpPr>
        <p:spPr>
          <a:xfrm>
            <a:off x="6263640" y="1600200"/>
            <a:ext cx="5349240" cy="1783080"/>
          </a:xfrm>
          <a:prstGeom prst="roundRect">
            <a:avLst>
              <a:gd name="adj" fmla="val 4615"/>
            </a:avLst>
          </a:prstGeom>
          <a:solidFill>
            <a:srgbClr val="1E2761"/>
          </a:solidFill>
          <a:ln/>
        </p:spPr>
      </p:sp>
      <p:sp>
        <p:nvSpPr>
          <p:cNvPr id="10" name="Shape 7"/>
          <p:cNvSpPr/>
          <p:nvPr/>
        </p:nvSpPr>
        <p:spPr>
          <a:xfrm>
            <a:off x="6492240" y="1828800"/>
            <a:ext cx="640080" cy="640080"/>
          </a:xfrm>
          <a:prstGeom prst="ellipse">
            <a:avLst/>
          </a:prstGeom>
          <a:solidFill>
            <a:srgbClr val="2B3A82"/>
          </a:solidFill>
          <a:ln/>
        </p:spPr>
      </p:sp>
      <p:pic>
        <p:nvPicPr>
          <p:cNvPr id="11" name="Image 1" descr="/home/claude/icons/balance.png">    </p:cNvPr>
          <p:cNvPicPr>
            <a:picLocks noChangeAspect="1"/>
          </p:cNvPicPr>
          <p:nvPr/>
        </p:nvPicPr>
        <p:blipFill>
          <a:blip r:embed="rId2"/>
          <a:stretch>
            <a:fillRect/>
          </a:stretch>
        </p:blipFill>
        <p:spPr>
          <a:xfrm>
            <a:off x="6638544" y="1975104"/>
            <a:ext cx="347472" cy="347472"/>
          </a:xfrm>
          <a:prstGeom prst="rect">
            <a:avLst/>
          </a:prstGeom>
        </p:spPr>
      </p:pic>
      <p:sp>
        <p:nvSpPr>
          <p:cNvPr id="12" name="Text 8"/>
          <p:cNvSpPr txBox="1"/>
          <p:nvPr/>
        </p:nvSpPr>
        <p:spPr>
          <a:xfrm>
            <a:off x="7269480" y="1783080"/>
            <a:ext cx="4160520" cy="502920"/>
          </a:xfrm>
          <a:prstGeom prst="rect">
            <a:avLst/>
          </a:prstGeom>
          <a:noFill/>
          <a:ln/>
        </p:spPr>
        <p:txBody>
          <a:bodyPr wrap="square" lIns="0" tIns="0" rIns="0" bIns="0" rtlCol="0" anchor="ctr"/>
          <a:lstStyle/>
          <a:p>
            <a:pPr indent="0" marL="0">
              <a:buNone/>
            </a:pPr>
            <a:r>
              <a:rPr lang="en-US" sz="1450" b="1" dirty="0">
                <a:solidFill>
                  <a:srgbClr val="F2A65A"/>
                </a:solidFill>
                <a:latin typeface="Cambria" pitchFamily="34" charset="0"/>
                <a:ea typeface="Cambria" pitchFamily="34" charset="-122"/>
                <a:cs typeface="Cambria" pitchFamily="34" charset="-120"/>
              </a:rPr>
              <a:t>Smaller models need stricter checks</a:t>
            </a:r>
            <a:endParaRPr lang="en-US" sz="1450" dirty="0"/>
          </a:p>
        </p:txBody>
      </p:sp>
      <p:sp>
        <p:nvSpPr>
          <p:cNvPr id="13" name="Text 9"/>
          <p:cNvSpPr txBox="1"/>
          <p:nvPr/>
        </p:nvSpPr>
        <p:spPr>
          <a:xfrm>
            <a:off x="7269480" y="2286000"/>
            <a:ext cx="4160520" cy="96012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Lower-capability models require more granular validation, not just schema checks.</a:t>
            </a:r>
            <a:endParaRPr lang="en-US" sz="1200" dirty="0"/>
          </a:p>
        </p:txBody>
      </p:sp>
      <p:sp>
        <p:nvSpPr>
          <p:cNvPr id="14" name="Shape 10"/>
          <p:cNvSpPr/>
          <p:nvPr/>
        </p:nvSpPr>
        <p:spPr>
          <a:xfrm>
            <a:off x="548640" y="3703320"/>
            <a:ext cx="5349240" cy="1783080"/>
          </a:xfrm>
          <a:prstGeom prst="roundRect">
            <a:avLst>
              <a:gd name="adj" fmla="val 4615"/>
            </a:avLst>
          </a:prstGeom>
          <a:solidFill>
            <a:srgbClr val="1E2761"/>
          </a:solidFill>
          <a:ln/>
        </p:spPr>
      </p:sp>
      <p:sp>
        <p:nvSpPr>
          <p:cNvPr id="15" name="Shape 11"/>
          <p:cNvSpPr/>
          <p:nvPr/>
        </p:nvSpPr>
        <p:spPr>
          <a:xfrm>
            <a:off x="777240" y="3931920"/>
            <a:ext cx="640080" cy="640080"/>
          </a:xfrm>
          <a:prstGeom prst="ellipse">
            <a:avLst/>
          </a:prstGeom>
          <a:solidFill>
            <a:srgbClr val="2B3A82"/>
          </a:solidFill>
          <a:ln/>
        </p:spPr>
      </p:sp>
      <p:pic>
        <p:nvPicPr>
          <p:cNvPr id="16" name="Image 2" descr="/home/claude/icons/layers.png">    </p:cNvPr>
          <p:cNvPicPr>
            <a:picLocks noChangeAspect="1"/>
          </p:cNvPicPr>
          <p:nvPr/>
        </p:nvPicPr>
        <p:blipFill>
          <a:blip r:embed="rId3"/>
          <a:stretch>
            <a:fillRect/>
          </a:stretch>
        </p:blipFill>
        <p:spPr>
          <a:xfrm>
            <a:off x="923544" y="4078224"/>
            <a:ext cx="347472" cy="347472"/>
          </a:xfrm>
          <a:prstGeom prst="rect">
            <a:avLst/>
          </a:prstGeom>
        </p:spPr>
      </p:pic>
      <p:sp>
        <p:nvSpPr>
          <p:cNvPr id="17" name="Text 12"/>
          <p:cNvSpPr txBox="1"/>
          <p:nvPr/>
        </p:nvSpPr>
        <p:spPr>
          <a:xfrm>
            <a:off x="1554480" y="3886200"/>
            <a:ext cx="4160520" cy="502920"/>
          </a:xfrm>
          <a:prstGeom prst="rect">
            <a:avLst/>
          </a:prstGeom>
          <a:noFill/>
          <a:ln/>
        </p:spPr>
        <p:txBody>
          <a:bodyPr wrap="square" lIns="0" tIns="0" rIns="0" bIns="0" rtlCol="0" anchor="ctr"/>
          <a:lstStyle/>
          <a:p>
            <a:pPr indent="0" marL="0">
              <a:buNone/>
            </a:pPr>
            <a:r>
              <a:rPr lang="en-US" sz="1450" b="1" dirty="0">
                <a:solidFill>
                  <a:srgbClr val="F2A65A"/>
                </a:solidFill>
                <a:latin typeface="Cambria" pitchFamily="34" charset="0"/>
                <a:ea typeface="Cambria" pitchFamily="34" charset="-122"/>
                <a:cs typeface="Cambria" pitchFamily="34" charset="-120"/>
              </a:rPr>
              <a:t>Focused batching improves grounding</a:t>
            </a:r>
            <a:endParaRPr lang="en-US" sz="1450" dirty="0"/>
          </a:p>
        </p:txBody>
      </p:sp>
      <p:sp>
        <p:nvSpPr>
          <p:cNvPr id="18" name="Text 13"/>
          <p:cNvSpPr txBox="1"/>
          <p:nvPr/>
        </p:nvSpPr>
        <p:spPr>
          <a:xfrm>
            <a:off x="1554480" y="4389120"/>
            <a:ext cx="4160520" cy="96012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Smaller, targeted generation calls stay closer to source material than large, broad ones.</a:t>
            </a:r>
            <a:endParaRPr lang="en-US" sz="1200" dirty="0"/>
          </a:p>
        </p:txBody>
      </p:sp>
      <p:sp>
        <p:nvSpPr>
          <p:cNvPr id="19" name="Shape 14"/>
          <p:cNvSpPr/>
          <p:nvPr/>
        </p:nvSpPr>
        <p:spPr>
          <a:xfrm>
            <a:off x="6263640" y="3703320"/>
            <a:ext cx="5349240" cy="1783080"/>
          </a:xfrm>
          <a:prstGeom prst="roundRect">
            <a:avLst>
              <a:gd name="adj" fmla="val 4615"/>
            </a:avLst>
          </a:prstGeom>
          <a:solidFill>
            <a:srgbClr val="1E2761"/>
          </a:solidFill>
          <a:ln/>
        </p:spPr>
      </p:sp>
      <p:sp>
        <p:nvSpPr>
          <p:cNvPr id="20" name="Shape 15"/>
          <p:cNvSpPr/>
          <p:nvPr/>
        </p:nvSpPr>
        <p:spPr>
          <a:xfrm>
            <a:off x="6492240" y="3931920"/>
            <a:ext cx="640080" cy="640080"/>
          </a:xfrm>
          <a:prstGeom prst="ellipse">
            <a:avLst/>
          </a:prstGeom>
          <a:solidFill>
            <a:srgbClr val="2B3A82"/>
          </a:solidFill>
          <a:ln/>
        </p:spPr>
      </p:sp>
      <p:pic>
        <p:nvPicPr>
          <p:cNvPr id="21" name="Image 3" descr="/home/claude/icons/server.png">    </p:cNvPr>
          <p:cNvPicPr>
            <a:picLocks noChangeAspect="1"/>
          </p:cNvPicPr>
          <p:nvPr/>
        </p:nvPicPr>
        <p:blipFill>
          <a:blip r:embed="rId4"/>
          <a:stretch>
            <a:fillRect/>
          </a:stretch>
        </p:blipFill>
        <p:spPr>
          <a:xfrm>
            <a:off x="6638544" y="4078224"/>
            <a:ext cx="347472" cy="347472"/>
          </a:xfrm>
          <a:prstGeom prst="rect">
            <a:avLst/>
          </a:prstGeom>
        </p:spPr>
      </p:pic>
      <p:sp>
        <p:nvSpPr>
          <p:cNvPr id="22" name="Text 16"/>
          <p:cNvSpPr txBox="1"/>
          <p:nvPr/>
        </p:nvSpPr>
        <p:spPr>
          <a:xfrm>
            <a:off x="7269480" y="3886200"/>
            <a:ext cx="4160520" cy="502920"/>
          </a:xfrm>
          <a:prstGeom prst="rect">
            <a:avLst/>
          </a:prstGeom>
          <a:noFill/>
          <a:ln/>
        </p:spPr>
        <p:txBody>
          <a:bodyPr wrap="square" lIns="0" tIns="0" rIns="0" bIns="0" rtlCol="0" anchor="ctr"/>
          <a:lstStyle/>
          <a:p>
            <a:pPr indent="0" marL="0">
              <a:buNone/>
            </a:pPr>
            <a:r>
              <a:rPr lang="en-US" sz="1450" b="1" dirty="0">
                <a:solidFill>
                  <a:srgbClr val="F2A65A"/>
                </a:solidFill>
                <a:latin typeface="Cambria" pitchFamily="34" charset="0"/>
                <a:ea typeface="Cambria" pitchFamily="34" charset="-122"/>
                <a:cs typeface="Cambria" pitchFamily="34" charset="-120"/>
              </a:rPr>
              <a:t>Infrastructure is mostly orthogonal</a:t>
            </a:r>
            <a:endParaRPr lang="en-US" sz="1450" dirty="0"/>
          </a:p>
        </p:txBody>
      </p:sp>
      <p:sp>
        <p:nvSpPr>
          <p:cNvPr id="23" name="Text 17"/>
          <p:cNvSpPr txBox="1"/>
          <p:nvPr/>
        </p:nvSpPr>
        <p:spPr>
          <a:xfrm>
            <a:off x="7269480" y="4389120"/>
            <a:ext cx="4160520" cy="96012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Gateway vs. local hosting mainly affects adapter configuration, not core generator logic.</a:t>
            </a:r>
            <a:endParaRPr lang="en-US" sz="1200" dirty="0"/>
          </a:p>
        </p:txBody>
      </p:sp>
      <p:sp>
        <p:nvSpPr>
          <p:cNvPr id="24" name="Text 18"/>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C"/>
                </a:solidFill>
                <a:latin typeface="Calibri" pitchFamily="34" charset="0"/>
                <a:ea typeface="Calibri" pitchFamily="34" charset="-122"/>
                <a:cs typeface="Calibri" pitchFamily="34" charset="-120"/>
              </a:rPr>
              <a:t>Erasmus Internship Progress — Sıla Özcan</a:t>
            </a:r>
            <a:endParaRPr lang="en-US" sz="900" dirty="0"/>
          </a:p>
        </p:txBody>
      </p:sp>
      <p:sp>
        <p:nvSpPr>
          <p:cNvPr id="25" name="Text 19"/>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56032"/>
            <a:ext cx="11091672" cy="274320"/>
          </a:xfrm>
          <a:prstGeom prst="rect">
            <a:avLst/>
          </a:prstGeom>
          <a:noFill/>
          <a:ln/>
        </p:spPr>
        <p:txBody>
          <a:bodyPr wrap="square" lIns="0" tIns="0" rIns="0" bIns="0" rtlCol="0" anchor="ctr"/>
          <a:lstStyle/>
          <a:p>
            <a:pPr algn="l" indent="0" marL="0">
              <a:buNone/>
            </a:pPr>
            <a:r>
              <a:rPr lang="en-US" sz="1200" b="1" spc="200" kern="0" dirty="0">
                <a:solidFill>
                  <a:srgbClr val="F2A65A"/>
                </a:solidFill>
                <a:latin typeface="Calibri" pitchFamily="34" charset="0"/>
                <a:ea typeface="Calibri" pitchFamily="34" charset="-122"/>
                <a:cs typeface="Calibri" pitchFamily="34" charset="-120"/>
              </a:rPr>
              <a:t>LOOKING AHEAD</a:t>
            </a:r>
            <a:endParaRPr lang="en-US" sz="1200" dirty="0"/>
          </a:p>
        </p:txBody>
      </p:sp>
      <p:sp>
        <p:nvSpPr>
          <p:cNvPr id="3" name="Text 1"/>
          <p:cNvSpPr txBox="1"/>
          <p:nvPr/>
        </p:nvSpPr>
        <p:spPr>
          <a:xfrm>
            <a:off x="548640" y="457200"/>
            <a:ext cx="11091672" cy="73152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Next Steps</a:t>
            </a:r>
            <a:endParaRPr lang="en-US" sz="3000" dirty="0"/>
          </a:p>
        </p:txBody>
      </p:sp>
      <p:sp>
        <p:nvSpPr>
          <p:cNvPr id="4" name="Shape 2"/>
          <p:cNvSpPr/>
          <p:nvPr/>
        </p:nvSpPr>
        <p:spPr>
          <a:xfrm>
            <a:off x="548640" y="1691640"/>
            <a:ext cx="11064240" cy="932688"/>
          </a:xfrm>
          <a:prstGeom prst="roundRect">
            <a:avLst>
              <a:gd name="adj" fmla="val 7843"/>
            </a:avLst>
          </a:prstGeom>
          <a:solidFill>
            <a:srgbClr val="FFFFFF"/>
          </a:solidFill>
          <a:ln w="12700">
            <a:solidFill>
              <a:srgbClr val="CADCFC"/>
            </a:solidFill>
            <a:prstDash val="solid"/>
          </a:ln>
        </p:spPr>
      </p:sp>
      <p:sp>
        <p:nvSpPr>
          <p:cNvPr id="5" name="Shape 3"/>
          <p:cNvSpPr/>
          <p:nvPr/>
        </p:nvSpPr>
        <p:spPr>
          <a:xfrm>
            <a:off x="777240" y="1883664"/>
            <a:ext cx="548640" cy="548640"/>
          </a:xfrm>
          <a:prstGeom prst="ellipse">
            <a:avLst/>
          </a:prstGeom>
          <a:solidFill>
            <a:srgbClr val="F2A65A"/>
          </a:solidFill>
          <a:ln/>
        </p:spPr>
      </p:sp>
      <p:sp>
        <p:nvSpPr>
          <p:cNvPr id="6" name="Text 4"/>
          <p:cNvSpPr txBox="1"/>
          <p:nvPr/>
        </p:nvSpPr>
        <p:spPr>
          <a:xfrm>
            <a:off x="777240" y="1883664"/>
            <a:ext cx="548640" cy="54864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554480" y="1691640"/>
            <a:ext cx="9784080" cy="932688"/>
          </a:xfrm>
          <a:prstGeom prst="rect">
            <a:avLst/>
          </a:prstGeom>
          <a:noFill/>
          <a:ln/>
        </p:spPr>
        <p:txBody>
          <a:bodyPr wrap="square" lIns="0" tIns="0" rIns="0" bIns="0" rtlCol="0" anchor="ctr"/>
          <a:lstStyle/>
          <a:p>
            <a:pPr indent="0" marL="0">
              <a:buNone/>
            </a:pPr>
            <a:r>
              <a:rPr lang="en-US" sz="1450" dirty="0">
                <a:solidFill>
                  <a:srgbClr val="1E2761"/>
                </a:solidFill>
                <a:latin typeface="Calibri" pitchFamily="34" charset="0"/>
                <a:ea typeface="Calibri" pitchFamily="34" charset="-122"/>
                <a:cs typeface="Calibri" pitchFamily="34" charset="-120"/>
              </a:rPr>
              <a:t>Extend source-grounding validation across additional representative requirement types</a:t>
            </a:r>
            <a:endParaRPr lang="en-US" sz="1450" dirty="0"/>
          </a:p>
        </p:txBody>
      </p:sp>
      <p:sp>
        <p:nvSpPr>
          <p:cNvPr id="8" name="Shape 6"/>
          <p:cNvSpPr/>
          <p:nvPr/>
        </p:nvSpPr>
        <p:spPr>
          <a:xfrm>
            <a:off x="548640" y="2788920"/>
            <a:ext cx="11064240" cy="932688"/>
          </a:xfrm>
          <a:prstGeom prst="roundRect">
            <a:avLst>
              <a:gd name="adj" fmla="val 7843"/>
            </a:avLst>
          </a:prstGeom>
          <a:solidFill>
            <a:srgbClr val="FFFFFF"/>
          </a:solidFill>
          <a:ln w="12700">
            <a:solidFill>
              <a:srgbClr val="CADCFC"/>
            </a:solidFill>
            <a:prstDash val="solid"/>
          </a:ln>
        </p:spPr>
      </p:sp>
      <p:sp>
        <p:nvSpPr>
          <p:cNvPr id="9" name="Shape 7"/>
          <p:cNvSpPr/>
          <p:nvPr/>
        </p:nvSpPr>
        <p:spPr>
          <a:xfrm>
            <a:off x="777240" y="2980944"/>
            <a:ext cx="548640" cy="548640"/>
          </a:xfrm>
          <a:prstGeom prst="ellipse">
            <a:avLst/>
          </a:prstGeom>
          <a:solidFill>
            <a:srgbClr val="F2A65A"/>
          </a:solidFill>
          <a:ln/>
        </p:spPr>
      </p:sp>
      <p:sp>
        <p:nvSpPr>
          <p:cNvPr id="10" name="Text 8"/>
          <p:cNvSpPr txBox="1"/>
          <p:nvPr/>
        </p:nvSpPr>
        <p:spPr>
          <a:xfrm>
            <a:off x="777240" y="2980944"/>
            <a:ext cx="548640" cy="54864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1554480" y="2788920"/>
            <a:ext cx="9784080" cy="932688"/>
          </a:xfrm>
          <a:prstGeom prst="rect">
            <a:avLst/>
          </a:prstGeom>
          <a:noFill/>
          <a:ln/>
        </p:spPr>
        <p:txBody>
          <a:bodyPr wrap="square" lIns="0" tIns="0" rIns="0" bIns="0" rtlCol="0" anchor="ctr"/>
          <a:lstStyle/>
          <a:p>
            <a:pPr indent="0" marL="0">
              <a:buNone/>
            </a:pPr>
            <a:r>
              <a:rPr lang="en-US" sz="1450" dirty="0">
                <a:solidFill>
                  <a:srgbClr val="1E2761"/>
                </a:solidFill>
                <a:latin typeface="Calibri" pitchFamily="34" charset="0"/>
                <a:ea typeface="Calibri" pitchFamily="34" charset="-122"/>
                <a:cs typeface="Calibri" pitchFamily="34" charset="-120"/>
              </a:rPr>
              <a:t>Continue evaluating the cost/quality trade-off of the smaller model on an expanded test set</a:t>
            </a:r>
            <a:endParaRPr lang="en-US" sz="1450" dirty="0"/>
          </a:p>
        </p:txBody>
      </p:sp>
      <p:sp>
        <p:nvSpPr>
          <p:cNvPr id="12" name="Shape 10"/>
          <p:cNvSpPr/>
          <p:nvPr/>
        </p:nvSpPr>
        <p:spPr>
          <a:xfrm>
            <a:off x="548640" y="3886200"/>
            <a:ext cx="11064240" cy="932688"/>
          </a:xfrm>
          <a:prstGeom prst="roundRect">
            <a:avLst>
              <a:gd name="adj" fmla="val 7843"/>
            </a:avLst>
          </a:prstGeom>
          <a:solidFill>
            <a:srgbClr val="FFFFFF"/>
          </a:solidFill>
          <a:ln w="12700">
            <a:solidFill>
              <a:srgbClr val="CADCFC"/>
            </a:solidFill>
            <a:prstDash val="solid"/>
          </a:ln>
        </p:spPr>
      </p:sp>
      <p:sp>
        <p:nvSpPr>
          <p:cNvPr id="13" name="Shape 11"/>
          <p:cNvSpPr/>
          <p:nvPr/>
        </p:nvSpPr>
        <p:spPr>
          <a:xfrm>
            <a:off x="777240" y="4078224"/>
            <a:ext cx="548640" cy="548640"/>
          </a:xfrm>
          <a:prstGeom prst="ellipse">
            <a:avLst/>
          </a:prstGeom>
          <a:solidFill>
            <a:srgbClr val="F2A65A"/>
          </a:solidFill>
          <a:ln/>
        </p:spPr>
      </p:sp>
      <p:sp>
        <p:nvSpPr>
          <p:cNvPr id="14" name="Text 12"/>
          <p:cNvSpPr txBox="1"/>
          <p:nvPr/>
        </p:nvSpPr>
        <p:spPr>
          <a:xfrm>
            <a:off x="777240" y="4078224"/>
            <a:ext cx="548640" cy="54864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3</a:t>
            </a:r>
            <a:endParaRPr lang="en-US" sz="1600" dirty="0"/>
          </a:p>
        </p:txBody>
      </p:sp>
      <p:sp>
        <p:nvSpPr>
          <p:cNvPr id="15" name="Text 13"/>
          <p:cNvSpPr txBox="1"/>
          <p:nvPr/>
        </p:nvSpPr>
        <p:spPr>
          <a:xfrm>
            <a:off x="1554480" y="3886200"/>
            <a:ext cx="9784080" cy="932688"/>
          </a:xfrm>
          <a:prstGeom prst="rect">
            <a:avLst/>
          </a:prstGeom>
          <a:noFill/>
          <a:ln/>
        </p:spPr>
        <p:txBody>
          <a:bodyPr wrap="square" lIns="0" tIns="0" rIns="0" bIns="0" rtlCol="0" anchor="ctr"/>
          <a:lstStyle/>
          <a:p>
            <a:pPr indent="0" marL="0">
              <a:buNone/>
            </a:pPr>
            <a:r>
              <a:rPr lang="en-US" sz="1450" dirty="0">
                <a:solidFill>
                  <a:srgbClr val="1E2761"/>
                </a:solidFill>
                <a:latin typeface="Calibri" pitchFamily="34" charset="0"/>
                <a:ea typeface="Calibri" pitchFamily="34" charset="-122"/>
                <a:cs typeface="Calibri" pitchFamily="34" charset="-120"/>
              </a:rPr>
              <a:t>Finalize default model selection pending repeated evaluation and formal sign-off</a:t>
            </a:r>
            <a:endParaRPr lang="en-US" sz="1450" dirty="0"/>
          </a:p>
        </p:txBody>
      </p:sp>
      <p:sp>
        <p:nvSpPr>
          <p:cNvPr id="16" name="Shape 14"/>
          <p:cNvSpPr/>
          <p:nvPr/>
        </p:nvSpPr>
        <p:spPr>
          <a:xfrm>
            <a:off x="548640" y="4983480"/>
            <a:ext cx="11064240" cy="932688"/>
          </a:xfrm>
          <a:prstGeom prst="roundRect">
            <a:avLst>
              <a:gd name="adj" fmla="val 7843"/>
            </a:avLst>
          </a:prstGeom>
          <a:solidFill>
            <a:srgbClr val="FFFFFF"/>
          </a:solidFill>
          <a:ln w="12700">
            <a:solidFill>
              <a:srgbClr val="CADCFC"/>
            </a:solidFill>
            <a:prstDash val="solid"/>
          </a:ln>
        </p:spPr>
      </p:sp>
      <p:sp>
        <p:nvSpPr>
          <p:cNvPr id="17" name="Shape 15"/>
          <p:cNvSpPr/>
          <p:nvPr/>
        </p:nvSpPr>
        <p:spPr>
          <a:xfrm>
            <a:off x="777240" y="5175504"/>
            <a:ext cx="548640" cy="548640"/>
          </a:xfrm>
          <a:prstGeom prst="ellipse">
            <a:avLst/>
          </a:prstGeom>
          <a:solidFill>
            <a:srgbClr val="F2A65A"/>
          </a:solidFill>
          <a:ln/>
        </p:spPr>
      </p:sp>
      <p:sp>
        <p:nvSpPr>
          <p:cNvPr id="18" name="Text 16"/>
          <p:cNvSpPr txBox="1"/>
          <p:nvPr/>
        </p:nvSpPr>
        <p:spPr>
          <a:xfrm>
            <a:off x="777240" y="5175504"/>
            <a:ext cx="548640" cy="54864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4</a:t>
            </a:r>
            <a:endParaRPr lang="en-US" sz="1600" dirty="0"/>
          </a:p>
        </p:txBody>
      </p:sp>
      <p:sp>
        <p:nvSpPr>
          <p:cNvPr id="19" name="Text 17"/>
          <p:cNvSpPr txBox="1"/>
          <p:nvPr/>
        </p:nvSpPr>
        <p:spPr>
          <a:xfrm>
            <a:off x="1554480" y="4983480"/>
            <a:ext cx="9784080" cy="932688"/>
          </a:xfrm>
          <a:prstGeom prst="rect">
            <a:avLst/>
          </a:prstGeom>
          <a:noFill/>
          <a:ln/>
        </p:spPr>
        <p:txBody>
          <a:bodyPr wrap="square" lIns="0" tIns="0" rIns="0" bIns="0" rtlCol="0" anchor="ctr"/>
          <a:lstStyle/>
          <a:p>
            <a:pPr indent="0" marL="0">
              <a:buNone/>
            </a:pPr>
            <a:r>
              <a:rPr lang="en-US" sz="1450" dirty="0">
                <a:solidFill>
                  <a:srgbClr val="1E2761"/>
                </a:solidFill>
                <a:latin typeface="Calibri" pitchFamily="34" charset="0"/>
                <a:ea typeface="Calibri" pitchFamily="34" charset="-122"/>
                <a:cs typeface="Calibri" pitchFamily="34" charset="-120"/>
              </a:rPr>
              <a:t>Document the final configuration, using the existing OpenAI-compatible adapter via base URL and model settings only</a:t>
            </a:r>
            <a:endParaRPr lang="en-US" sz="1450" dirty="0"/>
          </a:p>
        </p:txBody>
      </p:sp>
      <p:sp>
        <p:nvSpPr>
          <p:cNvPr id="20" name="Text 18"/>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C"/>
                </a:solidFill>
                <a:latin typeface="Calibri" pitchFamily="34" charset="0"/>
                <a:ea typeface="Calibri" pitchFamily="34" charset="-122"/>
                <a:cs typeface="Calibri" pitchFamily="34" charset="-120"/>
              </a:rPr>
              <a:t>Erasmus Internship Progress — Sıla Özcan</a:t>
            </a:r>
            <a:endParaRPr lang="en-US" sz="900" dirty="0"/>
          </a:p>
        </p:txBody>
      </p:sp>
      <p:sp>
        <p:nvSpPr>
          <p:cNvPr id="21" name="Text 19"/>
          <p:cNvSpPr txBox="1"/>
          <p:nvPr/>
        </p:nvSpPr>
        <p:spPr>
          <a:xfrm>
            <a:off x="11183112" y="6473952"/>
            <a:ext cx="457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pic>
        <p:nvPicPr>
          <p:cNvPr id="2" name="Image 0" descr="/home/claude/rs_logo_transparent.png">    </p:cNvPr>
          <p:cNvPicPr>
            <a:picLocks noChangeAspect="1"/>
          </p:cNvPicPr>
          <p:nvPr/>
        </p:nvPicPr>
        <p:blipFill>
          <a:blip r:embed="rId1"/>
          <a:stretch>
            <a:fillRect/>
          </a:stretch>
        </p:blipFill>
        <p:spPr>
          <a:xfrm>
            <a:off x="10680192" y="502920"/>
            <a:ext cx="777240" cy="777240"/>
          </a:xfrm>
          <a:prstGeom prst="rect">
            <a:avLst/>
          </a:prstGeom>
        </p:spPr>
      </p:pic>
      <p:sp>
        <p:nvSpPr>
          <p:cNvPr id="3" name="Text 0"/>
          <p:cNvSpPr txBox="1"/>
          <p:nvPr/>
        </p:nvSpPr>
        <p:spPr>
          <a:xfrm>
            <a:off x="10222992" y="1298448"/>
            <a:ext cx="1691640" cy="274320"/>
          </a:xfrm>
          <a:prstGeom prst="rect">
            <a:avLst/>
          </a:prstGeom>
          <a:noFill/>
          <a:ln/>
        </p:spPr>
        <p:txBody>
          <a:bodyPr wrap="square" lIns="0" tIns="0" rIns="0" bIns="0" rtlCol="0" anchor="ctr"/>
          <a:lstStyle/>
          <a:p>
            <a:pPr algn="ctr" indent="0" marL="0">
              <a:buNone/>
            </a:pPr>
            <a:r>
              <a:rPr lang="en-US" sz="900" b="1" spc="100" kern="0" dirty="0">
                <a:solidFill>
                  <a:srgbClr val="CADCFC"/>
                </a:solidFill>
                <a:latin typeface="Calibri" pitchFamily="34" charset="0"/>
                <a:ea typeface="Calibri" pitchFamily="34" charset="-122"/>
                <a:cs typeface="Calibri" pitchFamily="34" charset="-120"/>
              </a:rPr>
              <a:t>ROHDE &amp; SCHWARZ</a:t>
            </a:r>
            <a:endParaRPr lang="en-US" sz="900" dirty="0"/>
          </a:p>
        </p:txBody>
      </p:sp>
      <p:sp>
        <p:nvSpPr>
          <p:cNvPr id="4" name="Shape 1"/>
          <p:cNvSpPr/>
          <p:nvPr/>
        </p:nvSpPr>
        <p:spPr>
          <a:xfrm>
            <a:off x="822960" y="1280160"/>
            <a:ext cx="822960" cy="822960"/>
          </a:xfrm>
          <a:prstGeom prst="ellipse">
            <a:avLst/>
          </a:prstGeom>
          <a:solidFill>
            <a:srgbClr val="2B3A82"/>
          </a:solidFill>
          <a:ln/>
        </p:spPr>
      </p:sp>
      <p:pic>
        <p:nvPicPr>
          <p:cNvPr id="5" name="Image 1" descr="/home/claude/icons/handshake.png">    </p:cNvPr>
          <p:cNvPicPr>
            <a:picLocks noChangeAspect="1"/>
          </p:cNvPicPr>
          <p:nvPr/>
        </p:nvPicPr>
        <p:blipFill>
          <a:blip r:embed="rId2"/>
          <a:stretch>
            <a:fillRect/>
          </a:stretch>
        </p:blipFill>
        <p:spPr>
          <a:xfrm>
            <a:off x="969264" y="1426464"/>
            <a:ext cx="530352" cy="530352"/>
          </a:xfrm>
          <a:prstGeom prst="rect">
            <a:avLst/>
          </a:prstGeom>
        </p:spPr>
      </p:pic>
      <p:sp>
        <p:nvSpPr>
          <p:cNvPr id="6" name="Text 2"/>
          <p:cNvSpPr txBox="1"/>
          <p:nvPr/>
        </p:nvSpPr>
        <p:spPr>
          <a:xfrm>
            <a:off x="777240" y="2468880"/>
            <a:ext cx="91440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7" name="Text 3"/>
          <p:cNvSpPr txBox="1"/>
          <p:nvPr/>
        </p:nvSpPr>
        <p:spPr>
          <a:xfrm>
            <a:off x="822960" y="3429000"/>
            <a:ext cx="9144000" cy="54864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Questions &amp; Discussion</a:t>
            </a:r>
            <a:endParaRPr lang="en-US" sz="1800" dirty="0"/>
          </a:p>
        </p:txBody>
      </p:sp>
      <p:sp>
        <p:nvSpPr>
          <p:cNvPr id="8" name="Shape 4"/>
          <p:cNvSpPr/>
          <p:nvPr/>
        </p:nvSpPr>
        <p:spPr>
          <a:xfrm>
            <a:off x="822960" y="4297680"/>
            <a:ext cx="1828800" cy="0"/>
          </a:xfrm>
          <a:prstGeom prst="line">
            <a:avLst/>
          </a:prstGeom>
          <a:noFill/>
          <a:ln w="25400">
            <a:solidFill>
              <a:srgbClr val="F2A65A"/>
            </a:solidFill>
            <a:prstDash val="solid"/>
          </a:ln>
        </p:spPr>
      </p:sp>
      <p:sp>
        <p:nvSpPr>
          <p:cNvPr id="9" name="Text 5"/>
          <p:cNvSpPr txBox="1"/>
          <p:nvPr/>
        </p:nvSpPr>
        <p:spPr>
          <a:xfrm>
            <a:off x="822960" y="4434840"/>
            <a:ext cx="548640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Sıla Özcan</a:t>
            </a:r>
            <a:endParaRPr lang="en-US" sz="1800" dirty="0"/>
          </a:p>
        </p:txBody>
      </p:sp>
      <p:sp>
        <p:nvSpPr>
          <p:cNvPr id="10" name="Text 6"/>
          <p:cNvSpPr txBox="1"/>
          <p:nvPr/>
        </p:nvSpPr>
        <p:spPr>
          <a:xfrm>
            <a:off x="822960" y="4864608"/>
            <a:ext cx="54864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Erasmus Internship Program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2026-09-02T10:13:00Z</dcterms:created>
  <dcterms:modified xsi:type="dcterms:W3CDTF">2026-09-02T10:13:00Z</dcterms:modified>
</cp:coreProperties>
</file>